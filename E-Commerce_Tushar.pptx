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embeddedFontLst>
    <p:embeddedFont>
      <p:font typeface="DM Sans" pitchFamily="34" charset="0"/>
      <p:regular r:id="rId26"/>
      <p:bold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font" Target="fonts/font1.fntdata"/><Relationship Id="rId27"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an analysis of Amazon e-commerce orders in Power BI, with SQL for the customer questions and a three-tab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parts quickly: context, data preparation, the findings, the loyalty idea, the dashboard, then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in your own words, then the three questions the rest of the deck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 hold the sales facts; Customers hold age and gender. Every customer has exactly one order, which matters later for the loyalty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took place in Power Query. The model links Customers to Orders on CustomerID, single-direction, and a date table supports time intelligence such as previous-year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scale: revenue, units and customers. Bottom row is experience: delivery speed, returns and rating. Revenue is SUM of Sale Price; returns are orders with status Returned.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customers per year use DISTINCTCOUNT on CustomerID. The five yearly figures plus 2020 add up to about 113,000, matching the Customers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by category comes from the Product tab table. Popularity by units, from the objective question on the most popular categories, puts Health and Beauty and Fashion first, which is why volume and value tell different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revenue aggregated across all years. The gap between January and the two weakest months is roughly 20 percent, so these are the best candidates for promotions.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is heavily concentrated. A single national marketing budget would be inefficient, so weight spend toward the proven markets while reserving a test budget for the long 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average of 9.41 days hides a very wide spread by delivery type. Category differences are only about 0.1 day, so staffing or scheduling by category would not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Returns is a CALCULATE and COUNTROWS measure filtered to Status equal to Returned. Fashion's ₹4.14M from Shipped from Abroad is about a third of its ₹12.4M revenue, which links the long wait to its high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low volume, high value pattern, not a failing product. The goal of the discount is reach, not rescue, so keep it modest and pair it with visibility such as a limited-time offer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SQL work showed the maximum order count for any customer is one, so frequency-based tiers are impossible. Tiers use total revenue against the dataset average. Success is measured first by whether Bronze and Silver customers return for a second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tab is for overall stakeholders. The cards show units sold, revenue, unique customers and average rating. The Year slicer filters every visual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tab is for category managers. Four slicers cut every visual. Age group is a calculated column on the Customers table. The table total of 107,239,158 matches the revenue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had no product ID, so one was created as a calculated column in the Orders table. A metric selector built with a field parameter lets one chart show revenue, units or average rating by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of priority: delivery honesty and listing quality first, since they hit returns and ratings together. Pricing is not a lever for ratings because ratings barely differ by price. Promotions and the loyalty program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three findings: value is concentrated, delivery type drives the wait, and returns come from expectation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9525000" cy="44703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9525000" cy="44703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7848600"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5A623"/>
                </a:solidFill>
                <a:latin typeface="DM Sans" pitchFamily="34" charset="0"/>
                <a:ea typeface="DM Sans" pitchFamily="34" charset="-122"/>
                <a:cs typeface="DM Sans" pitchFamily="34" charset="-120"/>
              </a:rPr>
              <a:t>NEWTON SCHOOL · POWER BI CAPSTONE</a:t>
            </a:r>
            <a:endParaRPr lang="en-US" sz="1400" dirty="0"/>
          </a:p>
        </p:txBody>
      </p:sp>
      <p:sp>
        <p:nvSpPr>
          <p:cNvPr id="3" name="Text 1"/>
          <p:cNvSpPr/>
          <p:nvPr>
            <p:ph type="title"/>
          </p:nvPr>
        </p:nvSpPr>
        <p:spPr>
          <a:xfrm>
            <a:off x="812800" y="1957139"/>
            <a:ext cx="9810750" cy="2105571"/>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6F4EE"/>
                </a:solidFill>
                <a:latin typeface="DM Sans" pitchFamily="34" charset="0"/>
                <a:ea typeface="DM Sans" pitchFamily="34" charset="-122"/>
                <a:cs typeface="DM Sans" pitchFamily="34" charset="-120"/>
              </a:rPr>
              <a:t>Amazon E-Commerce: what the data says and what to do next</a:t>
            </a:r>
            <a:endParaRPr lang="en-US" sz="5200" dirty="0"/>
          </a:p>
        </p:txBody>
      </p:sp>
      <p:pic>
        <p:nvPicPr>
          <p:cNvPr id="4" name="Image 0" descr="line">    </p:cNvPr>
          <p:cNvPicPr>
            <a:picLocks noChangeAspect="1"/>
          </p:cNvPicPr>
          <p:nvPr/>
        </p:nvPicPr>
        <p:blipFill>
          <a:blip r:embed="rId1"/>
          <a:srcRect l="0" r="0" t="0" b="0"/>
          <a:stretch/>
        </p:blipFill>
        <p:spPr>
          <a:xfrm>
            <a:off x="812800" y="4265910"/>
            <a:ext cx="1016000" cy="50800"/>
          </a:xfrm>
          <a:prstGeom prst="rect">
            <a:avLst/>
          </a:prstGeom>
        </p:spPr>
      </p:pic>
      <p:sp>
        <p:nvSpPr>
          <p:cNvPr id="5" name="Text 2"/>
          <p:cNvSpPr/>
          <p:nvPr/>
        </p:nvSpPr>
        <p:spPr>
          <a:xfrm>
            <a:off x="812800" y="4545310"/>
            <a:ext cx="850265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1E3"/>
                </a:solidFill>
                <a:latin typeface="DM Sans" pitchFamily="34" charset="0"/>
                <a:ea typeface="DM Sans" pitchFamily="34" charset="-122"/>
                <a:cs typeface="DM Sans" pitchFamily="34" charset="-120"/>
              </a:rPr>
              <a:t>Business insights and recommendations from 113K orders, 2015 to 2020</a:t>
            </a:r>
            <a:endParaRPr lang="en-US" sz="1800" dirty="0"/>
          </a:p>
        </p:txBody>
      </p:sp>
      <p:sp>
        <p:nvSpPr>
          <p:cNvPr id="6" name="Text 3"/>
          <p:cNvSpPr/>
          <p:nvPr/>
        </p:nvSpPr>
        <p:spPr>
          <a:xfrm>
            <a:off x="812800" y="5760740"/>
            <a:ext cx="58864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DM Sans" pitchFamily="34" charset="0"/>
                <a:ea typeface="DM Sans" pitchFamily="34" charset="-122"/>
                <a:cs typeface="DM Sans" pitchFamily="34" charset="-120"/>
              </a:rPr>
              <a:t>Presented by Tushar Naha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ROADMAP</a:t>
            </a:r>
            <a:endParaRPr lang="en-US" sz="1200" dirty="0"/>
          </a:p>
        </p:txBody>
      </p:sp>
      <p:sp>
        <p:nvSpPr>
          <p:cNvPr id="3" name="Text 1"/>
          <p:cNvSpPr/>
          <p:nvPr>
            <p:ph type="title"/>
          </p:nvPr>
        </p:nvSpPr>
        <p:spPr>
          <a:xfrm>
            <a:off x="812800" y="1127720"/>
            <a:ext cx="9810750"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Agenda</a:t>
            </a:r>
            <a:endParaRPr lang="en-US" sz="3200" dirty="0"/>
          </a:p>
        </p:txBody>
      </p:sp>
      <p:sp>
        <p:nvSpPr>
          <p:cNvPr id="4" name="Shape 2"/>
          <p:cNvSpPr/>
          <p:nvPr/>
        </p:nvSpPr>
        <p:spPr>
          <a:xfrm>
            <a:off x="815975" y="1933525"/>
            <a:ext cx="3380284" cy="1149350"/>
          </a:xfrm>
          <a:prstGeom prst="roundRect">
            <a:avLst>
              <a:gd name="adj" fmla="val 8564"/>
            </a:avLst>
          </a:prstGeom>
          <a:solidFill>
            <a:srgbClr val="FFFFFF"/>
          </a:solidFill>
          <a:ln w="6350">
            <a:solidFill>
              <a:srgbClr val="E2DED2"/>
            </a:solidFill>
            <a:prstDash val="solid"/>
          </a:ln>
        </p:spPr>
      </p:sp>
      <p:sp>
        <p:nvSpPr>
          <p:cNvPr id="5" name="Text 3"/>
          <p:cNvSpPr/>
          <p:nvPr/>
        </p:nvSpPr>
        <p:spPr>
          <a:xfrm>
            <a:off x="1047750" y="2165300"/>
            <a:ext cx="300423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E07A00"/>
                </a:solidFill>
                <a:latin typeface="DM Sans" pitchFamily="34" charset="0"/>
                <a:ea typeface="DM Sans" pitchFamily="34" charset="-122"/>
                <a:cs typeface="DM Sans" pitchFamily="34" charset="-120"/>
              </a:rPr>
              <a:t>01</a:t>
            </a:r>
            <a:endParaRPr lang="en-US" sz="2800" dirty="0"/>
          </a:p>
        </p:txBody>
      </p:sp>
      <p:sp>
        <p:nvSpPr>
          <p:cNvPr id="6" name="Text 4"/>
          <p:cNvSpPr/>
          <p:nvPr/>
        </p:nvSpPr>
        <p:spPr>
          <a:xfrm>
            <a:off x="1047750" y="2597100"/>
            <a:ext cx="3004236"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14213D"/>
                </a:solidFill>
                <a:latin typeface="DM Sans" pitchFamily="34" charset="0"/>
                <a:ea typeface="DM Sans" pitchFamily="34" charset="-122"/>
                <a:cs typeface="DM Sans" pitchFamily="34" charset="-120"/>
              </a:rPr>
              <a:t>Problem and data</a:t>
            </a:r>
            <a:endParaRPr lang="en-US" sz="1600" dirty="0"/>
          </a:p>
        </p:txBody>
      </p:sp>
      <p:sp>
        <p:nvSpPr>
          <p:cNvPr id="7" name="Shape 5"/>
          <p:cNvSpPr/>
          <p:nvPr/>
        </p:nvSpPr>
        <p:spPr>
          <a:xfrm>
            <a:off x="4405809" y="1933525"/>
            <a:ext cx="3380333" cy="1149350"/>
          </a:xfrm>
          <a:prstGeom prst="roundRect">
            <a:avLst>
              <a:gd name="adj" fmla="val 8564"/>
            </a:avLst>
          </a:prstGeom>
          <a:solidFill>
            <a:srgbClr val="FFFFFF"/>
          </a:solidFill>
          <a:ln w="6350">
            <a:solidFill>
              <a:srgbClr val="E2DED2"/>
            </a:solidFill>
            <a:prstDash val="solid"/>
          </a:ln>
        </p:spPr>
      </p:sp>
      <p:sp>
        <p:nvSpPr>
          <p:cNvPr id="8" name="Text 6"/>
          <p:cNvSpPr/>
          <p:nvPr/>
        </p:nvSpPr>
        <p:spPr>
          <a:xfrm>
            <a:off x="4637584" y="2165300"/>
            <a:ext cx="3004287"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E07A00"/>
                </a:solidFill>
                <a:latin typeface="DM Sans" pitchFamily="34" charset="0"/>
                <a:ea typeface="DM Sans" pitchFamily="34" charset="-122"/>
                <a:cs typeface="DM Sans" pitchFamily="34" charset="-120"/>
              </a:rPr>
              <a:t>02</a:t>
            </a:r>
            <a:endParaRPr lang="en-US" sz="2800" dirty="0"/>
          </a:p>
        </p:txBody>
      </p:sp>
      <p:sp>
        <p:nvSpPr>
          <p:cNvPr id="9" name="Text 7"/>
          <p:cNvSpPr/>
          <p:nvPr/>
        </p:nvSpPr>
        <p:spPr>
          <a:xfrm>
            <a:off x="4637584" y="2597100"/>
            <a:ext cx="3004287"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14213D"/>
                </a:solidFill>
                <a:latin typeface="DM Sans" pitchFamily="34" charset="0"/>
                <a:ea typeface="DM Sans" pitchFamily="34" charset="-122"/>
                <a:cs typeface="DM Sans" pitchFamily="34" charset="-120"/>
              </a:rPr>
              <a:t>Cleaning and data model</a:t>
            </a:r>
            <a:endParaRPr lang="en-US" sz="1600" dirty="0"/>
          </a:p>
        </p:txBody>
      </p:sp>
      <p:sp>
        <p:nvSpPr>
          <p:cNvPr id="10" name="Shape 8"/>
          <p:cNvSpPr/>
          <p:nvPr/>
        </p:nvSpPr>
        <p:spPr>
          <a:xfrm>
            <a:off x="7995692" y="1933525"/>
            <a:ext cx="3380284" cy="1149350"/>
          </a:xfrm>
          <a:prstGeom prst="roundRect">
            <a:avLst>
              <a:gd name="adj" fmla="val 8564"/>
            </a:avLst>
          </a:prstGeom>
          <a:solidFill>
            <a:srgbClr val="FFFFFF"/>
          </a:solidFill>
          <a:ln w="6350">
            <a:solidFill>
              <a:srgbClr val="E2DED2"/>
            </a:solidFill>
            <a:prstDash val="solid"/>
          </a:ln>
        </p:spPr>
      </p:sp>
      <p:sp>
        <p:nvSpPr>
          <p:cNvPr id="11" name="Text 9"/>
          <p:cNvSpPr/>
          <p:nvPr/>
        </p:nvSpPr>
        <p:spPr>
          <a:xfrm>
            <a:off x="8227467" y="2165300"/>
            <a:ext cx="300423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E07A00"/>
                </a:solidFill>
                <a:latin typeface="DM Sans" pitchFamily="34" charset="0"/>
                <a:ea typeface="DM Sans" pitchFamily="34" charset="-122"/>
                <a:cs typeface="DM Sans" pitchFamily="34" charset="-120"/>
              </a:rPr>
              <a:t>03</a:t>
            </a:r>
            <a:endParaRPr lang="en-US" sz="2800" dirty="0"/>
          </a:p>
        </p:txBody>
      </p:sp>
      <p:sp>
        <p:nvSpPr>
          <p:cNvPr id="12" name="Text 10"/>
          <p:cNvSpPr/>
          <p:nvPr/>
        </p:nvSpPr>
        <p:spPr>
          <a:xfrm>
            <a:off x="8227467" y="2597100"/>
            <a:ext cx="3004236"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14213D"/>
                </a:solidFill>
                <a:latin typeface="DM Sans" pitchFamily="34" charset="0"/>
                <a:ea typeface="DM Sans" pitchFamily="34" charset="-122"/>
                <a:cs typeface="DM Sans" pitchFamily="34" charset="-120"/>
              </a:rPr>
              <a:t>Key metrics and findings</a:t>
            </a:r>
            <a:endParaRPr lang="en-US" sz="1600" dirty="0"/>
          </a:p>
        </p:txBody>
      </p:sp>
      <p:sp>
        <p:nvSpPr>
          <p:cNvPr id="13" name="Shape 11"/>
          <p:cNvSpPr/>
          <p:nvPr/>
        </p:nvSpPr>
        <p:spPr>
          <a:xfrm>
            <a:off x="815975" y="3292425"/>
            <a:ext cx="3380284" cy="1149350"/>
          </a:xfrm>
          <a:prstGeom prst="roundRect">
            <a:avLst>
              <a:gd name="adj" fmla="val 8564"/>
            </a:avLst>
          </a:prstGeom>
          <a:solidFill>
            <a:srgbClr val="FFFFFF"/>
          </a:solidFill>
          <a:ln w="6350">
            <a:solidFill>
              <a:srgbClr val="E2DED2"/>
            </a:solidFill>
            <a:prstDash val="solid"/>
          </a:ln>
        </p:spPr>
      </p:sp>
      <p:sp>
        <p:nvSpPr>
          <p:cNvPr id="14" name="Text 12"/>
          <p:cNvSpPr/>
          <p:nvPr/>
        </p:nvSpPr>
        <p:spPr>
          <a:xfrm>
            <a:off x="1047750" y="3524200"/>
            <a:ext cx="300423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E07A00"/>
                </a:solidFill>
                <a:latin typeface="DM Sans" pitchFamily="34" charset="0"/>
                <a:ea typeface="DM Sans" pitchFamily="34" charset="-122"/>
                <a:cs typeface="DM Sans" pitchFamily="34" charset="-120"/>
              </a:rPr>
              <a:t>04</a:t>
            </a:r>
            <a:endParaRPr lang="en-US" sz="2800" dirty="0"/>
          </a:p>
        </p:txBody>
      </p:sp>
      <p:sp>
        <p:nvSpPr>
          <p:cNvPr id="15" name="Text 13"/>
          <p:cNvSpPr/>
          <p:nvPr/>
        </p:nvSpPr>
        <p:spPr>
          <a:xfrm>
            <a:off x="1047750" y="3956000"/>
            <a:ext cx="3004236"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14213D"/>
                </a:solidFill>
                <a:latin typeface="DM Sans" pitchFamily="34" charset="0"/>
                <a:ea typeface="DM Sans" pitchFamily="34" charset="-122"/>
                <a:cs typeface="DM Sans" pitchFamily="34" charset="-120"/>
              </a:rPr>
              <a:t>Loyalty program design</a:t>
            </a:r>
            <a:endParaRPr lang="en-US" sz="1600" dirty="0"/>
          </a:p>
        </p:txBody>
      </p:sp>
      <p:sp>
        <p:nvSpPr>
          <p:cNvPr id="16" name="Shape 14"/>
          <p:cNvSpPr/>
          <p:nvPr/>
        </p:nvSpPr>
        <p:spPr>
          <a:xfrm>
            <a:off x="4405809" y="3292425"/>
            <a:ext cx="3380333" cy="1149350"/>
          </a:xfrm>
          <a:prstGeom prst="roundRect">
            <a:avLst>
              <a:gd name="adj" fmla="val 8564"/>
            </a:avLst>
          </a:prstGeom>
          <a:solidFill>
            <a:srgbClr val="FFFFFF"/>
          </a:solidFill>
          <a:ln w="6350">
            <a:solidFill>
              <a:srgbClr val="E2DED2"/>
            </a:solidFill>
            <a:prstDash val="solid"/>
          </a:ln>
        </p:spPr>
      </p:sp>
      <p:sp>
        <p:nvSpPr>
          <p:cNvPr id="17" name="Text 15"/>
          <p:cNvSpPr/>
          <p:nvPr/>
        </p:nvSpPr>
        <p:spPr>
          <a:xfrm>
            <a:off x="4637584" y="3524200"/>
            <a:ext cx="3004287"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E07A00"/>
                </a:solidFill>
                <a:latin typeface="DM Sans" pitchFamily="34" charset="0"/>
                <a:ea typeface="DM Sans" pitchFamily="34" charset="-122"/>
                <a:cs typeface="DM Sans" pitchFamily="34" charset="-120"/>
              </a:rPr>
              <a:t>05</a:t>
            </a:r>
            <a:endParaRPr lang="en-US" sz="2800" dirty="0"/>
          </a:p>
        </p:txBody>
      </p:sp>
      <p:sp>
        <p:nvSpPr>
          <p:cNvPr id="18" name="Text 16"/>
          <p:cNvSpPr/>
          <p:nvPr/>
        </p:nvSpPr>
        <p:spPr>
          <a:xfrm>
            <a:off x="4637584" y="3956000"/>
            <a:ext cx="3004287"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14213D"/>
                </a:solidFill>
                <a:latin typeface="DM Sans" pitchFamily="34" charset="0"/>
                <a:ea typeface="DM Sans" pitchFamily="34" charset="-122"/>
                <a:cs typeface="DM Sans" pitchFamily="34" charset="-120"/>
              </a:rPr>
              <a:t>Power BI dashboard tour</a:t>
            </a:r>
            <a:endParaRPr lang="en-US" sz="1600" dirty="0"/>
          </a:p>
        </p:txBody>
      </p:sp>
      <p:sp>
        <p:nvSpPr>
          <p:cNvPr id="19" name="Shape 17"/>
          <p:cNvSpPr/>
          <p:nvPr/>
        </p:nvSpPr>
        <p:spPr>
          <a:xfrm>
            <a:off x="7995692" y="3292425"/>
            <a:ext cx="3380284" cy="1149350"/>
          </a:xfrm>
          <a:prstGeom prst="roundRect">
            <a:avLst>
              <a:gd name="adj" fmla="val 8564"/>
            </a:avLst>
          </a:prstGeom>
          <a:solidFill>
            <a:srgbClr val="FFFFFF"/>
          </a:solidFill>
          <a:ln w="6350">
            <a:solidFill>
              <a:srgbClr val="E2DED2"/>
            </a:solidFill>
            <a:prstDash val="solid"/>
          </a:ln>
        </p:spPr>
      </p:sp>
      <p:sp>
        <p:nvSpPr>
          <p:cNvPr id="20" name="Text 18"/>
          <p:cNvSpPr/>
          <p:nvPr/>
        </p:nvSpPr>
        <p:spPr>
          <a:xfrm>
            <a:off x="8227467" y="3524200"/>
            <a:ext cx="300423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E07A00"/>
                </a:solidFill>
                <a:latin typeface="DM Sans" pitchFamily="34" charset="0"/>
                <a:ea typeface="DM Sans" pitchFamily="34" charset="-122"/>
                <a:cs typeface="DM Sans" pitchFamily="34" charset="-120"/>
              </a:rPr>
              <a:t>06</a:t>
            </a:r>
            <a:endParaRPr lang="en-US" sz="2800" dirty="0"/>
          </a:p>
        </p:txBody>
      </p:sp>
      <p:sp>
        <p:nvSpPr>
          <p:cNvPr id="21" name="Text 19"/>
          <p:cNvSpPr/>
          <p:nvPr/>
        </p:nvSpPr>
        <p:spPr>
          <a:xfrm>
            <a:off x="8227467" y="3956000"/>
            <a:ext cx="3004236"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14213D"/>
                </a:solidFill>
                <a:latin typeface="DM Sans" pitchFamily="34" charset="0"/>
                <a:ea typeface="DM Sans" pitchFamily="34" charset="-122"/>
                <a:cs typeface="DM Sans" pitchFamily="34" charset="-120"/>
              </a:rPr>
              <a:t>Recommendations</a:t>
            </a:r>
            <a:endParaRPr lang="en-US" sz="1600" dirty="0"/>
          </a:p>
        </p:txBody>
      </p:sp>
      <p:sp>
        <p:nvSpPr>
          <p:cNvPr id="22" name="Text 2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Amazon E-Commerce · Power BI capstone</a:t>
            </a:r>
            <a:endParaRPr lang="en-US" sz="1200" dirty="0"/>
          </a:p>
        </p:txBody>
      </p:sp>
      <p:sp>
        <p:nvSpPr>
          <p:cNvPr id="23" name="Text 2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THE BRIEF</a:t>
            </a:r>
            <a:endParaRPr lang="en-US" sz="1200" dirty="0"/>
          </a:p>
        </p:txBody>
      </p:sp>
      <p:sp>
        <p:nvSpPr>
          <p:cNvPr id="3" name="Text 1"/>
          <p:cNvSpPr/>
          <p:nvPr>
            <p:ph type="title"/>
          </p:nvPr>
        </p:nvSpPr>
        <p:spPr>
          <a:xfrm>
            <a:off x="812800" y="1127720"/>
            <a:ext cx="9810750"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Keep performing well, and find new ways to reward customers</a:t>
            </a:r>
            <a:endParaRPr lang="en-US" sz="3200" dirty="0"/>
          </a:p>
        </p:txBody>
      </p:sp>
      <p:sp>
        <p:nvSpPr>
          <p:cNvPr id="4" name="Shape 2"/>
          <p:cNvSpPr/>
          <p:nvPr/>
        </p:nvSpPr>
        <p:spPr>
          <a:xfrm>
            <a:off x="812800" y="2326580"/>
            <a:ext cx="5461000" cy="3283942"/>
          </a:xfrm>
          <a:prstGeom prst="roundRect">
            <a:avLst>
              <a:gd name="adj" fmla="val 3094"/>
            </a:avLst>
          </a:prstGeom>
          <a:solidFill>
            <a:srgbClr val="14213D"/>
          </a:solidFill>
          <a:ln/>
        </p:spPr>
      </p:sp>
      <p:sp>
        <p:nvSpPr>
          <p:cNvPr id="5" name="Text 3"/>
          <p:cNvSpPr/>
          <p:nvPr/>
        </p:nvSpPr>
        <p:spPr>
          <a:xfrm>
            <a:off x="1092200" y="2605980"/>
            <a:ext cx="50492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5A623"/>
                </a:solidFill>
                <a:latin typeface="DM Sans" pitchFamily="34" charset="0"/>
                <a:ea typeface="DM Sans" pitchFamily="34" charset="-122"/>
                <a:cs typeface="DM Sans" pitchFamily="34" charset="-120"/>
              </a:rPr>
              <a:t>PROBLEM STATEMENT</a:t>
            </a:r>
            <a:endParaRPr lang="en-US" sz="1200" dirty="0"/>
          </a:p>
        </p:txBody>
      </p:sp>
      <p:sp>
        <p:nvSpPr>
          <p:cNvPr id="6" name="Text 4"/>
          <p:cNvSpPr/>
          <p:nvPr/>
        </p:nvSpPr>
        <p:spPr>
          <a:xfrm>
            <a:off x="1092200" y="2946301"/>
            <a:ext cx="5049266" cy="173216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DM Sans" pitchFamily="34" charset="0"/>
                <a:ea typeface="DM Sans" pitchFamily="34" charset="-122"/>
                <a:cs typeface="DM Sans" pitchFamily="34" charset="-120"/>
              </a:rPr>
              <a:t>As a business analyst, I was asked to help stakeholders keep the company’s strong performance and improve on it. They want new strategies, such as more discounts and membership perks, and ways to identify and reward customers.</a:t>
            </a:r>
            <a:endParaRPr lang="en-US" sz="1600" dirty="0"/>
          </a:p>
        </p:txBody>
      </p:sp>
      <p:sp>
        <p:nvSpPr>
          <p:cNvPr id="7" name="Text 5"/>
          <p:cNvSpPr/>
          <p:nvPr/>
        </p:nvSpPr>
        <p:spPr>
          <a:xfrm>
            <a:off x="6477000" y="2326580"/>
            <a:ext cx="50492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5"/>
                </a:solidFill>
                <a:latin typeface="DM Sans" pitchFamily="34" charset="0"/>
                <a:ea typeface="DM Sans" pitchFamily="34" charset="-122"/>
                <a:cs typeface="DM Sans" pitchFamily="34" charset="-120"/>
              </a:rPr>
              <a:t>QUESTIONS THIS DECK ANSWERS</a:t>
            </a:r>
            <a:endParaRPr lang="en-US" sz="1200" dirty="0"/>
          </a:p>
        </p:txBody>
      </p:sp>
      <p:sp>
        <p:nvSpPr>
          <p:cNvPr id="8" name="Text 6"/>
          <p:cNvSpPr/>
          <p:nvPr/>
        </p:nvSpPr>
        <p:spPr>
          <a:xfrm>
            <a:off x="6480175" y="2670076"/>
            <a:ext cx="4895850" cy="890191"/>
          </a:xfrm>
          <a:prstGeom prst="roundRect">
            <a:avLst>
              <a:gd name="adj" fmla="val 11057"/>
            </a:avLst>
          </a:prstGeom>
          <a:solidFill>
            <a:srgbClr val="FFFFFF"/>
          </a:solidFill>
          <a:ln w="6350">
            <a:solidFill>
              <a:srgbClr val="E2DED2"/>
            </a:solidFill>
            <a:prstDash val="solid"/>
          </a:ln>
        </p:spPr>
        <p:txBody>
          <a:bodyPr wrap="square" lIns="177547" tIns="152147" rIns="43054" bIns="126747" rtlCol="0" anchor="t">
            <a:normAutofit/>
          </a:bodyPr>
          <a:lstStyle/>
          <a:p>
            <a:pPr algn="l" indent="0" marL="0">
              <a:lnSpc>
                <a:spcPts val="2080"/>
              </a:lnSpc>
              <a:buNone/>
            </a:pPr>
            <a:r>
              <a:rPr lang="en-US" sz="1600" dirty="0">
                <a:solidFill>
                  <a:srgbClr val="14213D"/>
                </a:solidFill>
                <a:latin typeface="DM Sans" pitchFamily="34" charset="0"/>
                <a:ea typeface="DM Sans" pitchFamily="34" charset="-122"/>
                <a:cs typeface="DM Sans" pitchFamily="34" charset="-120"/>
              </a:rPr>
              <a:t>Which products, categories and regions drive revenue?</a:t>
            </a:r>
            <a:endParaRPr lang="en-US" sz="1600" dirty="0"/>
          </a:p>
        </p:txBody>
      </p:sp>
      <p:sp>
        <p:nvSpPr>
          <p:cNvPr id="9" name="Text 7"/>
          <p:cNvSpPr/>
          <p:nvPr/>
        </p:nvSpPr>
        <p:spPr>
          <a:xfrm>
            <a:off x="6480175" y="3693616"/>
            <a:ext cx="4895850" cy="890191"/>
          </a:xfrm>
          <a:prstGeom prst="roundRect">
            <a:avLst>
              <a:gd name="adj" fmla="val 11057"/>
            </a:avLst>
          </a:prstGeom>
          <a:solidFill>
            <a:srgbClr val="FFFFFF"/>
          </a:solidFill>
          <a:ln w="6350">
            <a:solidFill>
              <a:srgbClr val="E2DED2"/>
            </a:solidFill>
            <a:prstDash val="solid"/>
          </a:ln>
        </p:spPr>
        <p:txBody>
          <a:bodyPr wrap="square" lIns="177547" tIns="152147" rIns="43054" bIns="126747" rtlCol="0" anchor="t">
            <a:normAutofit/>
          </a:bodyPr>
          <a:lstStyle/>
          <a:p>
            <a:pPr algn="l" indent="0" marL="0">
              <a:lnSpc>
                <a:spcPts val="2080"/>
              </a:lnSpc>
              <a:buNone/>
            </a:pPr>
            <a:r>
              <a:rPr lang="en-US" sz="1600" dirty="0">
                <a:solidFill>
                  <a:srgbClr val="14213D"/>
                </a:solidFill>
                <a:latin typeface="DM Sans" pitchFamily="34" charset="0"/>
                <a:ea typeface="DM Sans" pitchFamily="34" charset="-122"/>
                <a:cs typeface="DM Sans" pitchFamily="34" charset="-120"/>
              </a:rPr>
              <a:t>Where do delivery time and returns hurt customers?</a:t>
            </a:r>
            <a:endParaRPr lang="en-US" sz="1600" dirty="0"/>
          </a:p>
        </p:txBody>
      </p:sp>
      <p:sp>
        <p:nvSpPr>
          <p:cNvPr id="10" name="Text 8"/>
          <p:cNvSpPr/>
          <p:nvPr/>
        </p:nvSpPr>
        <p:spPr>
          <a:xfrm>
            <a:off x="6480175" y="4717157"/>
            <a:ext cx="4895850" cy="890191"/>
          </a:xfrm>
          <a:prstGeom prst="roundRect">
            <a:avLst>
              <a:gd name="adj" fmla="val 11057"/>
            </a:avLst>
          </a:prstGeom>
          <a:solidFill>
            <a:srgbClr val="FFFFFF"/>
          </a:solidFill>
          <a:ln w="6350">
            <a:solidFill>
              <a:srgbClr val="E2DED2"/>
            </a:solidFill>
            <a:prstDash val="solid"/>
          </a:ln>
        </p:spPr>
        <p:txBody>
          <a:bodyPr wrap="square" lIns="177547" tIns="152147" rIns="43054" bIns="126747" rtlCol="0" anchor="t">
            <a:normAutofit/>
          </a:bodyPr>
          <a:lstStyle/>
          <a:p>
            <a:pPr algn="l" indent="0" marL="0">
              <a:lnSpc>
                <a:spcPts val="2080"/>
              </a:lnSpc>
              <a:buNone/>
            </a:pPr>
            <a:r>
              <a:rPr lang="en-US" sz="1600" dirty="0">
                <a:solidFill>
                  <a:srgbClr val="14213D"/>
                </a:solidFill>
                <a:latin typeface="DM Sans" pitchFamily="34" charset="0"/>
                <a:ea typeface="DM Sans" pitchFamily="34" charset="-122"/>
                <a:cs typeface="DM Sans" pitchFamily="34" charset="-120"/>
              </a:rPr>
              <a:t>How should customers be grouped and rewarded?</a:t>
            </a:r>
            <a:endParaRPr lang="en-US" sz="1600" dirty="0"/>
          </a:p>
        </p:txBody>
      </p:sp>
      <p:sp>
        <p:nvSpPr>
          <p:cNvPr id="11"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Amazon E-Commerce · Power BI capstone</a:t>
            </a:r>
            <a:endParaRPr lang="en-US" sz="1200" dirty="0"/>
          </a:p>
        </p:txBody>
      </p:sp>
      <p:sp>
        <p:nvSpPr>
          <p:cNvPr id="12" name="Text 1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THE DATA</a:t>
            </a:r>
            <a:endParaRPr lang="en-US" sz="1200" dirty="0"/>
          </a:p>
        </p:txBody>
      </p:sp>
      <p:sp>
        <p:nvSpPr>
          <p:cNvPr id="3" name="Text 1"/>
          <p:cNvSpPr/>
          <p:nvPr>
            <p:ph type="title"/>
          </p:nvPr>
        </p:nvSpPr>
        <p:spPr>
          <a:xfrm>
            <a:off x="812800" y="1127720"/>
            <a:ext cx="9810750"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Two tables: orders and customers</a:t>
            </a:r>
            <a:endParaRPr lang="en-US" sz="3200" dirty="0"/>
          </a:p>
        </p:txBody>
      </p:sp>
      <p:sp>
        <p:nvSpPr>
          <p:cNvPr id="4" name="Shape 2"/>
          <p:cNvSpPr/>
          <p:nvPr/>
        </p:nvSpPr>
        <p:spPr>
          <a:xfrm>
            <a:off x="815975" y="1882725"/>
            <a:ext cx="6211590" cy="1619151"/>
          </a:xfrm>
          <a:prstGeom prst="roundRect">
            <a:avLst>
              <a:gd name="adj" fmla="val 6079"/>
            </a:avLst>
          </a:prstGeom>
          <a:solidFill>
            <a:srgbClr val="FFFFFF"/>
          </a:solidFill>
          <a:ln w="6350">
            <a:solidFill>
              <a:srgbClr val="E2DED2"/>
            </a:solidFill>
            <a:prstDash val="solid"/>
          </a:ln>
        </p:spPr>
      </p:sp>
      <p:sp>
        <p:nvSpPr>
          <p:cNvPr id="5" name="Text 3"/>
          <p:cNvSpPr/>
          <p:nvPr/>
        </p:nvSpPr>
        <p:spPr>
          <a:xfrm>
            <a:off x="1047750" y="2114500"/>
            <a:ext cx="5920481"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DM Sans" pitchFamily="34" charset="0"/>
                <a:ea typeface="DM Sans" pitchFamily="34" charset="-122"/>
                <a:cs typeface="DM Sans" pitchFamily="34" charset="-120"/>
              </a:rPr>
              <a:t>Orders table · 17 columns</a:t>
            </a:r>
            <a:endParaRPr lang="en-US" sz="1800" dirty="0"/>
          </a:p>
        </p:txBody>
      </p:sp>
      <p:sp>
        <p:nvSpPr>
          <p:cNvPr id="6" name="Text 4"/>
          <p:cNvSpPr/>
          <p:nvPr/>
        </p:nvSpPr>
        <p:spPr>
          <a:xfrm>
            <a:off x="1047750" y="2523430"/>
            <a:ext cx="5920481"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475"/>
                </a:solidFill>
                <a:latin typeface="DM Sans" pitchFamily="34" charset="0"/>
                <a:ea typeface="DM Sans" pitchFamily="34" charset="-122"/>
                <a:cs typeface="DM Sans" pitchFamily="34" charset="-120"/>
              </a:rPr>
              <a:t>OrderID, OrderDate, Delivery Date, CustomerID, Location, Zone, Delivery Type, Product Category, SubCategory, Product, Unit Price, Shipping Fee, Order Quantity, Sale Price, Status, Reason, Rating</a:t>
            </a:r>
            <a:endParaRPr lang="en-US" sz="1400" dirty="0"/>
          </a:p>
        </p:txBody>
      </p:sp>
      <p:sp>
        <p:nvSpPr>
          <p:cNvPr id="7" name="Shape 5"/>
          <p:cNvSpPr/>
          <p:nvPr/>
        </p:nvSpPr>
        <p:spPr>
          <a:xfrm>
            <a:off x="815975" y="3660626"/>
            <a:ext cx="6211590" cy="1121370"/>
          </a:xfrm>
          <a:prstGeom prst="roundRect">
            <a:avLst>
              <a:gd name="adj" fmla="val 8777"/>
            </a:avLst>
          </a:prstGeom>
          <a:solidFill>
            <a:srgbClr val="FFFFFF"/>
          </a:solidFill>
          <a:ln w="6350">
            <a:solidFill>
              <a:srgbClr val="E2DED2"/>
            </a:solidFill>
            <a:prstDash val="solid"/>
          </a:ln>
        </p:spPr>
      </p:sp>
      <p:sp>
        <p:nvSpPr>
          <p:cNvPr id="8" name="Text 6"/>
          <p:cNvSpPr/>
          <p:nvPr/>
        </p:nvSpPr>
        <p:spPr>
          <a:xfrm>
            <a:off x="1047750" y="3892401"/>
            <a:ext cx="5920481"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DM Sans" pitchFamily="34" charset="0"/>
                <a:ea typeface="DM Sans" pitchFamily="34" charset="-122"/>
                <a:cs typeface="DM Sans" pitchFamily="34" charset="-120"/>
              </a:rPr>
              <a:t>Customers table · 3 columns</a:t>
            </a:r>
            <a:endParaRPr lang="en-US" sz="1800" dirty="0"/>
          </a:p>
        </p:txBody>
      </p:sp>
      <p:sp>
        <p:nvSpPr>
          <p:cNvPr id="9" name="Text 7"/>
          <p:cNvSpPr/>
          <p:nvPr/>
        </p:nvSpPr>
        <p:spPr>
          <a:xfrm>
            <a:off x="1047750" y="4301331"/>
            <a:ext cx="592048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475"/>
                </a:solidFill>
                <a:latin typeface="DM Sans" pitchFamily="34" charset="0"/>
                <a:ea typeface="DM Sans" pitchFamily="34" charset="-122"/>
                <a:cs typeface="DM Sans" pitchFamily="34" charset="-120"/>
              </a:rPr>
              <a:t>CustomerID, Customer Age, Customer Gender</a:t>
            </a:r>
            <a:endParaRPr lang="en-US" sz="1400" dirty="0"/>
          </a:p>
        </p:txBody>
      </p:sp>
      <p:sp>
        <p:nvSpPr>
          <p:cNvPr id="10" name="Shape 8"/>
          <p:cNvSpPr/>
          <p:nvPr/>
        </p:nvSpPr>
        <p:spPr>
          <a:xfrm>
            <a:off x="7233940" y="1879550"/>
            <a:ext cx="4145260" cy="1033711"/>
          </a:xfrm>
          <a:prstGeom prst="roundRect">
            <a:avLst>
              <a:gd name="adj" fmla="val 9829"/>
            </a:avLst>
          </a:prstGeom>
          <a:solidFill>
            <a:srgbClr val="14213D"/>
          </a:solidFill>
          <a:ln/>
        </p:spPr>
      </p:sp>
      <p:sp>
        <p:nvSpPr>
          <p:cNvPr id="11" name="Text 9"/>
          <p:cNvSpPr/>
          <p:nvPr/>
        </p:nvSpPr>
        <p:spPr>
          <a:xfrm>
            <a:off x="7462540" y="2057350"/>
            <a:ext cx="3798702"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F5A623"/>
                </a:solidFill>
                <a:latin typeface="DM Sans" pitchFamily="34" charset="0"/>
                <a:ea typeface="DM Sans" pitchFamily="34" charset="-122"/>
                <a:cs typeface="DM Sans" pitchFamily="34" charset="-120"/>
              </a:rPr>
              <a:t>113K</a:t>
            </a:r>
            <a:endParaRPr lang="en-US" sz="3200" dirty="0"/>
          </a:p>
        </p:txBody>
      </p:sp>
      <p:sp>
        <p:nvSpPr>
          <p:cNvPr id="12" name="Text 10"/>
          <p:cNvSpPr/>
          <p:nvPr/>
        </p:nvSpPr>
        <p:spPr>
          <a:xfrm>
            <a:off x="7462540" y="2522141"/>
            <a:ext cx="37987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E3"/>
                </a:solidFill>
                <a:latin typeface="DM Sans" pitchFamily="34" charset="0"/>
                <a:ea typeface="DM Sans" pitchFamily="34" charset="-122"/>
                <a:cs typeface="DM Sans" pitchFamily="34" charset="-120"/>
              </a:rPr>
              <a:t>orders, one per customer</a:t>
            </a:r>
            <a:endParaRPr lang="en-US" sz="1200" dirty="0"/>
          </a:p>
        </p:txBody>
      </p:sp>
      <p:sp>
        <p:nvSpPr>
          <p:cNvPr id="13" name="Shape 11"/>
          <p:cNvSpPr/>
          <p:nvPr/>
        </p:nvSpPr>
        <p:spPr>
          <a:xfrm>
            <a:off x="7233940" y="3065661"/>
            <a:ext cx="4145260" cy="1033711"/>
          </a:xfrm>
          <a:prstGeom prst="roundRect">
            <a:avLst>
              <a:gd name="adj" fmla="val 9829"/>
            </a:avLst>
          </a:prstGeom>
          <a:solidFill>
            <a:srgbClr val="14213D"/>
          </a:solidFill>
          <a:ln/>
        </p:spPr>
      </p:sp>
      <p:sp>
        <p:nvSpPr>
          <p:cNvPr id="14" name="Text 12"/>
          <p:cNvSpPr/>
          <p:nvPr/>
        </p:nvSpPr>
        <p:spPr>
          <a:xfrm>
            <a:off x="7462540" y="3243461"/>
            <a:ext cx="3798702"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F5A623"/>
                </a:solidFill>
                <a:latin typeface="DM Sans" pitchFamily="34" charset="0"/>
                <a:ea typeface="DM Sans" pitchFamily="34" charset="-122"/>
                <a:cs typeface="DM Sans" pitchFamily="34" charset="-120"/>
              </a:rPr>
              <a:t>44</a:t>
            </a:r>
            <a:endParaRPr lang="en-US" sz="3200" dirty="0"/>
          </a:p>
        </p:txBody>
      </p:sp>
      <p:sp>
        <p:nvSpPr>
          <p:cNvPr id="15" name="Text 13"/>
          <p:cNvSpPr/>
          <p:nvPr/>
        </p:nvSpPr>
        <p:spPr>
          <a:xfrm>
            <a:off x="7462540" y="3708251"/>
            <a:ext cx="37987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E3"/>
                </a:solidFill>
                <a:latin typeface="DM Sans" pitchFamily="34" charset="0"/>
                <a:ea typeface="DM Sans" pitchFamily="34" charset="-122"/>
                <a:cs typeface="DM Sans" pitchFamily="34" charset="-120"/>
              </a:rPr>
              <a:t>unique products</a:t>
            </a:r>
            <a:endParaRPr lang="en-US" sz="1200" dirty="0"/>
          </a:p>
        </p:txBody>
      </p:sp>
      <p:sp>
        <p:nvSpPr>
          <p:cNvPr id="16" name="Shape 14"/>
          <p:cNvSpPr/>
          <p:nvPr/>
        </p:nvSpPr>
        <p:spPr>
          <a:xfrm>
            <a:off x="7233940" y="4251771"/>
            <a:ext cx="4145260" cy="1033711"/>
          </a:xfrm>
          <a:prstGeom prst="roundRect">
            <a:avLst>
              <a:gd name="adj" fmla="val 9829"/>
            </a:avLst>
          </a:prstGeom>
          <a:solidFill>
            <a:srgbClr val="14213D"/>
          </a:solidFill>
          <a:ln/>
        </p:spPr>
      </p:sp>
      <p:sp>
        <p:nvSpPr>
          <p:cNvPr id="17" name="Text 15"/>
          <p:cNvSpPr/>
          <p:nvPr/>
        </p:nvSpPr>
        <p:spPr>
          <a:xfrm>
            <a:off x="7462540" y="4429571"/>
            <a:ext cx="3798702"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F5A623"/>
                </a:solidFill>
                <a:latin typeface="DM Sans" pitchFamily="34" charset="0"/>
                <a:ea typeface="DM Sans" pitchFamily="34" charset="-122"/>
                <a:cs typeface="DM Sans" pitchFamily="34" charset="-120"/>
              </a:rPr>
              <a:t>2015–2020</a:t>
            </a:r>
            <a:endParaRPr lang="en-US" sz="3200" dirty="0"/>
          </a:p>
        </p:txBody>
      </p:sp>
      <p:sp>
        <p:nvSpPr>
          <p:cNvPr id="18" name="Text 16"/>
          <p:cNvSpPr/>
          <p:nvPr/>
        </p:nvSpPr>
        <p:spPr>
          <a:xfrm>
            <a:off x="7462540" y="4894362"/>
            <a:ext cx="37987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E3"/>
                </a:solidFill>
                <a:latin typeface="DM Sans" pitchFamily="34" charset="0"/>
                <a:ea typeface="DM Sans" pitchFamily="34" charset="-122"/>
                <a:cs typeface="DM Sans" pitchFamily="34" charset="-120"/>
              </a:rPr>
              <a:t>order dates covered</a:t>
            </a:r>
            <a:endParaRPr lang="en-US" sz="12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Amazon E-Commerce · Power BI capstone</a:t>
            </a:r>
            <a:endParaRPr lang="en-US" sz="1200" dirty="0"/>
          </a:p>
        </p:txBody>
      </p:sp>
      <p:sp>
        <p:nvSpPr>
          <p:cNvPr id="20" name="Text 1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PREPARATION</a:t>
            </a:r>
            <a:endParaRPr lang="en-US" sz="1200" dirty="0"/>
          </a:p>
        </p:txBody>
      </p:sp>
      <p:sp>
        <p:nvSpPr>
          <p:cNvPr id="3" name="Text 1"/>
          <p:cNvSpPr/>
          <p:nvPr>
            <p:ph type="title"/>
          </p:nvPr>
        </p:nvSpPr>
        <p:spPr>
          <a:xfrm>
            <a:off x="812800" y="1127720"/>
            <a:ext cx="9810750"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Cleaned in Power Query, linked in one model</a:t>
            </a:r>
            <a:endParaRPr lang="en-US" sz="3200" dirty="0"/>
          </a:p>
        </p:txBody>
      </p:sp>
      <p:sp>
        <p:nvSpPr>
          <p:cNvPr id="4" name="Shape 2"/>
          <p:cNvSpPr/>
          <p:nvPr/>
        </p:nvSpPr>
        <p:spPr>
          <a:xfrm>
            <a:off x="815975" y="1882725"/>
            <a:ext cx="6117580" cy="3628231"/>
          </a:xfrm>
          <a:prstGeom prst="roundRect">
            <a:avLst>
              <a:gd name="adj" fmla="val 2713"/>
            </a:avLst>
          </a:prstGeom>
          <a:solidFill>
            <a:srgbClr val="FFFFFF"/>
          </a:solidFill>
          <a:ln w="6350">
            <a:solidFill>
              <a:srgbClr val="E2DED2"/>
            </a:solidFill>
            <a:prstDash val="solid"/>
          </a:ln>
        </p:spPr>
      </p:sp>
      <p:sp>
        <p:nvSpPr>
          <p:cNvPr id="5" name="Text 3"/>
          <p:cNvSpPr/>
          <p:nvPr/>
        </p:nvSpPr>
        <p:spPr>
          <a:xfrm>
            <a:off x="1047750" y="2114500"/>
            <a:ext cx="582365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5"/>
                </a:solidFill>
                <a:latin typeface="DM Sans" pitchFamily="34" charset="0"/>
                <a:ea typeface="DM Sans" pitchFamily="34" charset="-122"/>
                <a:cs typeface="DM Sans" pitchFamily="34" charset="-120"/>
              </a:rPr>
              <a:t>CLEANING STEPS</a:t>
            </a:r>
            <a:endParaRPr lang="en-US" sz="1200" dirty="0"/>
          </a:p>
        </p:txBody>
      </p:sp>
      <p:pic>
        <p:nvPicPr>
          <p:cNvPr id="6" name="Image 0" descr="Check">    </p:cNvPr>
          <p:cNvPicPr>
            <a:picLocks noChangeAspect="1"/>
          </p:cNvPicPr>
          <p:nvPr/>
        </p:nvPicPr>
        <p:blipFill>
          <a:blip r:embed="rId1"/>
          <a:srcRect l="0" r="0" t="0" b="0"/>
          <a:stretch/>
        </p:blipFill>
        <p:spPr>
          <a:xfrm>
            <a:off x="1047750" y="2467521"/>
            <a:ext cx="254000" cy="254000"/>
          </a:xfrm>
          <a:prstGeom prst="rect">
            <a:avLst/>
          </a:prstGeom>
        </p:spPr>
      </p:pic>
      <p:sp>
        <p:nvSpPr>
          <p:cNvPr id="7" name="Text 4"/>
          <p:cNvSpPr/>
          <p:nvPr/>
        </p:nvSpPr>
        <p:spPr>
          <a:xfrm>
            <a:off x="1416050" y="2478931"/>
            <a:ext cx="5444302"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DM Sans" pitchFamily="34" charset="0"/>
                <a:ea typeface="DM Sans" pitchFamily="34" charset="-122"/>
                <a:cs typeface="DM Sans" pitchFamily="34" charset="-120"/>
              </a:rPr>
              <a:t>Removed five fully blank trailing columns</a:t>
            </a:r>
            <a:endParaRPr lang="en-US" sz="1400" dirty="0"/>
          </a:p>
        </p:txBody>
      </p:sp>
      <p:pic>
        <p:nvPicPr>
          <p:cNvPr id="8" name="Image 1" descr="Check">    </p:cNvPr>
          <p:cNvPicPr>
            <a:picLocks noChangeAspect="1"/>
          </p:cNvPicPr>
          <p:nvPr/>
        </p:nvPicPr>
        <p:blipFill>
          <a:blip r:embed="rId2"/>
          <a:srcRect l="0" r="0" t="0" b="0"/>
          <a:stretch/>
        </p:blipFill>
        <p:spPr>
          <a:xfrm>
            <a:off x="1047750" y="2861221"/>
            <a:ext cx="254000" cy="254000"/>
          </a:xfrm>
          <a:prstGeom prst="rect">
            <a:avLst/>
          </a:prstGeom>
        </p:spPr>
      </p:pic>
      <p:sp>
        <p:nvSpPr>
          <p:cNvPr id="9" name="Text 5"/>
          <p:cNvSpPr/>
          <p:nvPr/>
        </p:nvSpPr>
        <p:spPr>
          <a:xfrm>
            <a:off x="1416050" y="2872631"/>
            <a:ext cx="5444302"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DM Sans" pitchFamily="34" charset="0"/>
                <a:ea typeface="DM Sans" pitchFamily="34" charset="-122"/>
                <a:cs typeface="DM Sans" pitchFamily="34" charset="-120"/>
              </a:rPr>
              <a:t>Corrected data types: dates, whole numbers, decimals, text</a:t>
            </a:r>
            <a:endParaRPr lang="en-US" sz="1400" dirty="0"/>
          </a:p>
        </p:txBody>
      </p:sp>
      <p:pic>
        <p:nvPicPr>
          <p:cNvPr id="10" name="Image 2" descr="Check">    </p:cNvPr>
          <p:cNvPicPr>
            <a:picLocks noChangeAspect="1"/>
          </p:cNvPicPr>
          <p:nvPr/>
        </p:nvPicPr>
        <p:blipFill>
          <a:blip r:embed="rId3"/>
          <a:srcRect l="0" r="0" t="0" b="0"/>
          <a:stretch/>
        </p:blipFill>
        <p:spPr>
          <a:xfrm>
            <a:off x="1047750" y="3254921"/>
            <a:ext cx="254000" cy="254000"/>
          </a:xfrm>
          <a:prstGeom prst="rect">
            <a:avLst/>
          </a:prstGeom>
        </p:spPr>
      </p:pic>
      <p:sp>
        <p:nvSpPr>
          <p:cNvPr id="11" name="Text 6"/>
          <p:cNvSpPr/>
          <p:nvPr/>
        </p:nvSpPr>
        <p:spPr>
          <a:xfrm>
            <a:off x="1416050" y="3266331"/>
            <a:ext cx="5444302"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DM Sans" pitchFamily="34" charset="0"/>
                <a:ea typeface="DM Sans" pitchFamily="34" charset="-122"/>
                <a:cs typeface="DM Sans" pitchFamily="34" charset="-120"/>
              </a:rPr>
              <a:t>Rounded Sale Price to two decimals to remove float noise</a:t>
            </a:r>
            <a:endParaRPr lang="en-US" sz="1400" dirty="0"/>
          </a:p>
        </p:txBody>
      </p:sp>
      <p:pic>
        <p:nvPicPr>
          <p:cNvPr id="12" name="Image 3" descr="Check">    </p:cNvPr>
          <p:cNvPicPr>
            <a:picLocks noChangeAspect="1"/>
          </p:cNvPicPr>
          <p:nvPr/>
        </p:nvPicPr>
        <p:blipFill>
          <a:blip r:embed="rId4"/>
          <a:srcRect l="0" r="0" t="0" b="0"/>
          <a:stretch/>
        </p:blipFill>
        <p:spPr>
          <a:xfrm>
            <a:off x="1047750" y="3648621"/>
            <a:ext cx="254000" cy="254000"/>
          </a:xfrm>
          <a:prstGeom prst="rect">
            <a:avLst/>
          </a:prstGeom>
        </p:spPr>
      </p:pic>
      <p:sp>
        <p:nvSpPr>
          <p:cNvPr id="13" name="Text 7"/>
          <p:cNvSpPr/>
          <p:nvPr/>
        </p:nvSpPr>
        <p:spPr>
          <a:xfrm>
            <a:off x="1416050" y="3660031"/>
            <a:ext cx="5444302"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DM Sans" pitchFamily="34" charset="0"/>
                <a:ea typeface="DM Sans" pitchFamily="34" charset="-122"/>
                <a:cs typeface="DM Sans" pitchFamily="34" charset="-120"/>
              </a:rPr>
              <a:t>Removed blank rows from every column</a:t>
            </a:r>
            <a:endParaRPr lang="en-US" sz="1400" dirty="0"/>
          </a:p>
        </p:txBody>
      </p:sp>
      <p:pic>
        <p:nvPicPr>
          <p:cNvPr id="14" name="Image 4" descr="Check">    </p:cNvPr>
          <p:cNvPicPr>
            <a:picLocks noChangeAspect="1"/>
          </p:cNvPicPr>
          <p:nvPr/>
        </p:nvPicPr>
        <p:blipFill>
          <a:blip r:embed="rId5"/>
          <a:srcRect l="0" r="0" t="0" b="0"/>
          <a:stretch/>
        </p:blipFill>
        <p:spPr>
          <a:xfrm>
            <a:off x="1047750" y="4042321"/>
            <a:ext cx="254000" cy="254000"/>
          </a:xfrm>
          <a:prstGeom prst="rect">
            <a:avLst/>
          </a:prstGeom>
        </p:spPr>
      </p:pic>
      <p:sp>
        <p:nvSpPr>
          <p:cNvPr id="15" name="Text 8"/>
          <p:cNvSpPr/>
          <p:nvPr/>
        </p:nvSpPr>
        <p:spPr>
          <a:xfrm>
            <a:off x="1416050" y="4053731"/>
            <a:ext cx="5444302"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DM Sans" pitchFamily="34" charset="0"/>
                <a:ea typeface="DM Sans" pitchFamily="34" charset="-122"/>
                <a:cs typeface="DM Sans" pitchFamily="34" charset="-120"/>
              </a:rPr>
              <a:t>Replaced blank Reason with “Not Applicable”</a:t>
            </a:r>
            <a:endParaRPr lang="en-US" sz="1400" dirty="0"/>
          </a:p>
        </p:txBody>
      </p:sp>
      <p:sp>
        <p:nvSpPr>
          <p:cNvPr id="16" name="Shape 9"/>
          <p:cNvSpPr/>
          <p:nvPr/>
        </p:nvSpPr>
        <p:spPr>
          <a:xfrm>
            <a:off x="7143105" y="1882725"/>
            <a:ext cx="4232920" cy="3628231"/>
          </a:xfrm>
          <a:prstGeom prst="roundRect">
            <a:avLst>
              <a:gd name="adj" fmla="val 2713"/>
            </a:avLst>
          </a:prstGeom>
          <a:solidFill>
            <a:srgbClr val="FFFFFF"/>
          </a:solidFill>
          <a:ln w="6350">
            <a:solidFill>
              <a:srgbClr val="E2DED2"/>
            </a:solidFill>
            <a:prstDash val="solid"/>
          </a:ln>
        </p:spPr>
      </p:sp>
      <p:sp>
        <p:nvSpPr>
          <p:cNvPr id="17" name="Text 10"/>
          <p:cNvSpPr/>
          <p:nvPr/>
        </p:nvSpPr>
        <p:spPr>
          <a:xfrm>
            <a:off x="7374880" y="2114500"/>
            <a:ext cx="388245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5"/>
                </a:solidFill>
                <a:latin typeface="DM Sans" pitchFamily="34" charset="0"/>
                <a:ea typeface="DM Sans" pitchFamily="34" charset="-122"/>
                <a:cs typeface="DM Sans" pitchFamily="34" charset="-120"/>
              </a:rPr>
              <a:t>DATA MODEL</a:t>
            </a:r>
            <a:endParaRPr lang="en-US" sz="1200" dirty="0"/>
          </a:p>
        </p:txBody>
      </p:sp>
      <p:sp>
        <p:nvSpPr>
          <p:cNvPr id="18" name="Shape 11"/>
          <p:cNvSpPr/>
          <p:nvPr/>
        </p:nvSpPr>
        <p:spPr>
          <a:xfrm>
            <a:off x="7378055" y="2394496"/>
            <a:ext cx="3763020" cy="689570"/>
          </a:xfrm>
          <a:prstGeom prst="roundRect">
            <a:avLst>
              <a:gd name="adj" fmla="val 10590"/>
            </a:avLst>
          </a:prstGeom>
          <a:solidFill>
            <a:srgbClr val="F6F4EE"/>
          </a:solidFill>
          <a:ln w="6350">
            <a:solidFill>
              <a:srgbClr val="E2DED2"/>
            </a:solidFill>
            <a:prstDash val="solid"/>
          </a:ln>
        </p:spPr>
      </p:sp>
      <p:sp>
        <p:nvSpPr>
          <p:cNvPr id="19" name="Text 12"/>
          <p:cNvSpPr/>
          <p:nvPr/>
        </p:nvSpPr>
        <p:spPr>
          <a:xfrm>
            <a:off x="7533630" y="2499271"/>
            <a:ext cx="355542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DM Sans" pitchFamily="34" charset="0"/>
                <a:ea typeface="DM Sans" pitchFamily="34" charset="-122"/>
                <a:cs typeface="DM Sans" pitchFamily="34" charset="-120"/>
              </a:rPr>
              <a:t>Customers</a:t>
            </a:r>
            <a:endParaRPr lang="en-US" sz="1500" dirty="0"/>
          </a:p>
        </p:txBody>
      </p:sp>
      <p:sp>
        <p:nvSpPr>
          <p:cNvPr id="20" name="Text 13"/>
          <p:cNvSpPr/>
          <p:nvPr/>
        </p:nvSpPr>
        <p:spPr>
          <a:xfrm>
            <a:off x="7533630" y="2765971"/>
            <a:ext cx="35554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one row per customer</a:t>
            </a:r>
            <a:endParaRPr lang="en-US" sz="1200" dirty="0"/>
          </a:p>
        </p:txBody>
      </p:sp>
      <p:pic>
        <p:nvPicPr>
          <p:cNvPr id="21" name="Image 5" descr="arrow-down">    </p:cNvPr>
          <p:cNvPicPr>
            <a:picLocks noChangeAspect="1"/>
          </p:cNvPicPr>
          <p:nvPr/>
        </p:nvPicPr>
        <p:blipFill>
          <a:blip r:embed="rId6"/>
          <a:srcRect l="0" r="0" t="0" b="0"/>
          <a:stretch/>
        </p:blipFill>
        <p:spPr>
          <a:xfrm>
            <a:off x="8141940" y="3150741"/>
            <a:ext cx="228600" cy="279400"/>
          </a:xfrm>
          <a:prstGeom prst="rect">
            <a:avLst/>
          </a:prstGeom>
        </p:spPr>
      </p:pic>
      <p:sp>
        <p:nvSpPr>
          <p:cNvPr id="22" name="Text 14"/>
          <p:cNvSpPr/>
          <p:nvPr/>
        </p:nvSpPr>
        <p:spPr>
          <a:xfrm>
            <a:off x="8472140" y="318378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one to many, CustomerID</a:t>
            </a:r>
            <a:endParaRPr lang="en-US" sz="1200" dirty="0"/>
          </a:p>
        </p:txBody>
      </p:sp>
      <p:sp>
        <p:nvSpPr>
          <p:cNvPr id="23" name="Shape 15"/>
          <p:cNvSpPr/>
          <p:nvPr/>
        </p:nvSpPr>
        <p:spPr>
          <a:xfrm>
            <a:off x="7374880" y="3493641"/>
            <a:ext cx="3769370" cy="683220"/>
          </a:xfrm>
          <a:prstGeom prst="roundRect">
            <a:avLst>
              <a:gd name="adj" fmla="val 11153"/>
            </a:avLst>
          </a:prstGeom>
          <a:solidFill>
            <a:srgbClr val="14213D"/>
          </a:solidFill>
          <a:ln/>
        </p:spPr>
      </p:sp>
      <p:sp>
        <p:nvSpPr>
          <p:cNvPr id="24" name="Text 16"/>
          <p:cNvSpPr/>
          <p:nvPr/>
        </p:nvSpPr>
        <p:spPr>
          <a:xfrm>
            <a:off x="7527280" y="3595241"/>
            <a:ext cx="35685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4EE"/>
                </a:solidFill>
                <a:latin typeface="DM Sans" pitchFamily="34" charset="0"/>
                <a:ea typeface="DM Sans" pitchFamily="34" charset="-122"/>
                <a:cs typeface="DM Sans" pitchFamily="34" charset="-120"/>
              </a:rPr>
              <a:t>Orders</a:t>
            </a:r>
            <a:endParaRPr lang="en-US" sz="1500" dirty="0"/>
          </a:p>
        </p:txBody>
      </p:sp>
      <p:sp>
        <p:nvSpPr>
          <p:cNvPr id="25" name="Text 17"/>
          <p:cNvSpPr/>
          <p:nvPr/>
        </p:nvSpPr>
        <p:spPr>
          <a:xfrm>
            <a:off x="7527280" y="3861941"/>
            <a:ext cx="35685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1E3"/>
                </a:solidFill>
                <a:latin typeface="DM Sans" pitchFamily="34" charset="0"/>
                <a:ea typeface="DM Sans" pitchFamily="34" charset="-122"/>
                <a:cs typeface="DM Sans" pitchFamily="34" charset="-120"/>
              </a:rPr>
              <a:t>fact table</a:t>
            </a:r>
            <a:endParaRPr lang="en-US" sz="1200" dirty="0"/>
          </a:p>
        </p:txBody>
      </p:sp>
      <p:pic>
        <p:nvPicPr>
          <p:cNvPr id="26" name="Image 6" descr="arrow-up">    </p:cNvPr>
          <p:cNvPicPr>
            <a:picLocks noChangeAspect="1"/>
          </p:cNvPicPr>
          <p:nvPr/>
        </p:nvPicPr>
        <p:blipFill>
          <a:blip r:embed="rId7"/>
          <a:srcRect l="0" r="0" t="0" b="0"/>
          <a:stretch/>
        </p:blipFill>
        <p:spPr>
          <a:xfrm>
            <a:off x="8141940" y="4240361"/>
            <a:ext cx="228600" cy="279400"/>
          </a:xfrm>
          <a:prstGeom prst="rect">
            <a:avLst/>
          </a:prstGeom>
        </p:spPr>
      </p:pic>
      <p:sp>
        <p:nvSpPr>
          <p:cNvPr id="27" name="Text 18"/>
          <p:cNvSpPr/>
          <p:nvPr/>
        </p:nvSpPr>
        <p:spPr>
          <a:xfrm>
            <a:off x="8472140" y="427340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one to many, date</a:t>
            </a:r>
            <a:endParaRPr lang="en-US" sz="1200" dirty="0"/>
          </a:p>
        </p:txBody>
      </p:sp>
      <p:sp>
        <p:nvSpPr>
          <p:cNvPr id="28" name="Shape 19"/>
          <p:cNvSpPr/>
          <p:nvPr/>
        </p:nvSpPr>
        <p:spPr>
          <a:xfrm>
            <a:off x="7378055" y="4586436"/>
            <a:ext cx="3763020" cy="689570"/>
          </a:xfrm>
          <a:prstGeom prst="roundRect">
            <a:avLst>
              <a:gd name="adj" fmla="val 10590"/>
            </a:avLst>
          </a:prstGeom>
          <a:solidFill>
            <a:srgbClr val="F6F4EE"/>
          </a:solidFill>
          <a:ln w="6350">
            <a:solidFill>
              <a:srgbClr val="E2DED2"/>
            </a:solidFill>
            <a:prstDash val="solid"/>
          </a:ln>
        </p:spPr>
      </p:sp>
      <p:sp>
        <p:nvSpPr>
          <p:cNvPr id="29" name="Text 20"/>
          <p:cNvSpPr/>
          <p:nvPr/>
        </p:nvSpPr>
        <p:spPr>
          <a:xfrm>
            <a:off x="7533630" y="4691211"/>
            <a:ext cx="355542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DM Sans" pitchFamily="34" charset="0"/>
                <a:ea typeface="DM Sans" pitchFamily="34" charset="-122"/>
                <a:cs typeface="DM Sans" pitchFamily="34" charset="-120"/>
              </a:rPr>
              <a:t>DateTable</a:t>
            </a:r>
            <a:endParaRPr lang="en-US" sz="1500" dirty="0"/>
          </a:p>
        </p:txBody>
      </p:sp>
      <p:sp>
        <p:nvSpPr>
          <p:cNvPr id="30" name="Text 21"/>
          <p:cNvSpPr/>
          <p:nvPr/>
        </p:nvSpPr>
        <p:spPr>
          <a:xfrm>
            <a:off x="7533630" y="4957911"/>
            <a:ext cx="35554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marked as date table</a:t>
            </a:r>
            <a:endParaRPr lang="en-US" sz="1200" dirty="0"/>
          </a:p>
        </p:txBody>
      </p:sp>
      <p:sp>
        <p:nvSpPr>
          <p:cNvPr id="31" name="Text 2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Amazon E-Commerce · Power BI capstone</a:t>
            </a:r>
            <a:endParaRPr lang="en-US" sz="1200" dirty="0"/>
          </a:p>
        </p:txBody>
      </p:sp>
      <p:sp>
        <p:nvSpPr>
          <p:cNvPr id="32" name="Text 2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KEY METRICS</a:t>
            </a:r>
            <a:endParaRPr lang="en-US" sz="1200" dirty="0"/>
          </a:p>
        </p:txBody>
      </p:sp>
      <p:sp>
        <p:nvSpPr>
          <p:cNvPr id="3" name="Text 1"/>
          <p:cNvSpPr/>
          <p:nvPr>
            <p:ph type="title"/>
          </p:nvPr>
        </p:nvSpPr>
        <p:spPr>
          <a:xfrm>
            <a:off x="812800" y="1127720"/>
            <a:ext cx="9810750"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Six numbers that frame the business</a:t>
            </a:r>
            <a:endParaRPr lang="en-US" sz="3200" dirty="0"/>
          </a:p>
        </p:txBody>
      </p:sp>
      <p:sp>
        <p:nvSpPr>
          <p:cNvPr id="4" name="Shape 2"/>
          <p:cNvSpPr/>
          <p:nvPr/>
        </p:nvSpPr>
        <p:spPr>
          <a:xfrm>
            <a:off x="815975" y="1882725"/>
            <a:ext cx="3380284" cy="1228080"/>
          </a:xfrm>
          <a:prstGeom prst="roundRect">
            <a:avLst>
              <a:gd name="adj" fmla="val 8015"/>
            </a:avLst>
          </a:prstGeom>
          <a:solidFill>
            <a:srgbClr val="FFFFFF"/>
          </a:solidFill>
          <a:ln w="6350">
            <a:solidFill>
              <a:srgbClr val="E2DED2"/>
            </a:solidFill>
            <a:prstDash val="solid"/>
          </a:ln>
        </p:spPr>
      </p:sp>
      <p:sp>
        <p:nvSpPr>
          <p:cNvPr id="5" name="Text 3"/>
          <p:cNvSpPr/>
          <p:nvPr/>
        </p:nvSpPr>
        <p:spPr>
          <a:xfrm>
            <a:off x="1047750" y="2089100"/>
            <a:ext cx="3004236"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14213D"/>
                </a:solidFill>
                <a:latin typeface="DM Sans" pitchFamily="34" charset="0"/>
                <a:ea typeface="DM Sans" pitchFamily="34" charset="-122"/>
                <a:cs typeface="DM Sans" pitchFamily="34" charset="-120"/>
              </a:rPr>
              <a:t>₹107.24M</a:t>
            </a:r>
            <a:endParaRPr lang="en-US" sz="4000" dirty="0"/>
          </a:p>
        </p:txBody>
      </p:sp>
      <p:sp>
        <p:nvSpPr>
          <p:cNvPr id="6" name="Text 4"/>
          <p:cNvSpPr/>
          <p:nvPr/>
        </p:nvSpPr>
        <p:spPr>
          <a:xfrm>
            <a:off x="1047750" y="2673300"/>
            <a:ext cx="3004236"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475"/>
                </a:solidFill>
                <a:latin typeface="DM Sans" pitchFamily="34" charset="0"/>
                <a:ea typeface="DM Sans" pitchFamily="34" charset="-122"/>
                <a:cs typeface="DM Sans" pitchFamily="34" charset="-120"/>
              </a:rPr>
              <a:t>total revenue</a:t>
            </a:r>
            <a:endParaRPr lang="en-US" sz="1400" dirty="0"/>
          </a:p>
        </p:txBody>
      </p:sp>
      <p:sp>
        <p:nvSpPr>
          <p:cNvPr id="7" name="Shape 5"/>
          <p:cNvSpPr/>
          <p:nvPr/>
        </p:nvSpPr>
        <p:spPr>
          <a:xfrm>
            <a:off x="4405809" y="1882725"/>
            <a:ext cx="3380333" cy="1228080"/>
          </a:xfrm>
          <a:prstGeom prst="roundRect">
            <a:avLst>
              <a:gd name="adj" fmla="val 8015"/>
            </a:avLst>
          </a:prstGeom>
          <a:solidFill>
            <a:srgbClr val="FFFFFF"/>
          </a:solidFill>
          <a:ln w="6350">
            <a:solidFill>
              <a:srgbClr val="E2DED2"/>
            </a:solidFill>
            <a:prstDash val="solid"/>
          </a:ln>
        </p:spPr>
      </p:sp>
      <p:sp>
        <p:nvSpPr>
          <p:cNvPr id="8" name="Text 6"/>
          <p:cNvSpPr/>
          <p:nvPr/>
        </p:nvSpPr>
        <p:spPr>
          <a:xfrm>
            <a:off x="4637584" y="2089100"/>
            <a:ext cx="3004287"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14213D"/>
                </a:solidFill>
                <a:latin typeface="DM Sans" pitchFamily="34" charset="0"/>
                <a:ea typeface="DM Sans" pitchFamily="34" charset="-122"/>
                <a:cs typeface="DM Sans" pitchFamily="34" charset="-120"/>
              </a:rPr>
              <a:t>603K</a:t>
            </a:r>
            <a:endParaRPr lang="en-US" sz="4000" dirty="0"/>
          </a:p>
        </p:txBody>
      </p:sp>
      <p:sp>
        <p:nvSpPr>
          <p:cNvPr id="9" name="Text 7"/>
          <p:cNvSpPr/>
          <p:nvPr/>
        </p:nvSpPr>
        <p:spPr>
          <a:xfrm>
            <a:off x="4637584" y="2673300"/>
            <a:ext cx="3004287"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475"/>
                </a:solidFill>
                <a:latin typeface="DM Sans" pitchFamily="34" charset="0"/>
                <a:ea typeface="DM Sans" pitchFamily="34" charset="-122"/>
                <a:cs typeface="DM Sans" pitchFamily="34" charset="-120"/>
              </a:rPr>
              <a:t>units sold</a:t>
            </a:r>
            <a:endParaRPr lang="en-US" sz="1400" dirty="0"/>
          </a:p>
        </p:txBody>
      </p:sp>
      <p:sp>
        <p:nvSpPr>
          <p:cNvPr id="10" name="Shape 8"/>
          <p:cNvSpPr/>
          <p:nvPr/>
        </p:nvSpPr>
        <p:spPr>
          <a:xfrm>
            <a:off x="7995692" y="1882725"/>
            <a:ext cx="3380284" cy="1228080"/>
          </a:xfrm>
          <a:prstGeom prst="roundRect">
            <a:avLst>
              <a:gd name="adj" fmla="val 8015"/>
            </a:avLst>
          </a:prstGeom>
          <a:solidFill>
            <a:srgbClr val="FFFFFF"/>
          </a:solidFill>
          <a:ln w="6350">
            <a:solidFill>
              <a:srgbClr val="E2DED2"/>
            </a:solidFill>
            <a:prstDash val="solid"/>
          </a:ln>
        </p:spPr>
      </p:sp>
      <p:sp>
        <p:nvSpPr>
          <p:cNvPr id="11" name="Text 9"/>
          <p:cNvSpPr/>
          <p:nvPr/>
        </p:nvSpPr>
        <p:spPr>
          <a:xfrm>
            <a:off x="8227467" y="2089100"/>
            <a:ext cx="3004236"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14213D"/>
                </a:solidFill>
                <a:latin typeface="DM Sans" pitchFamily="34" charset="0"/>
                <a:ea typeface="DM Sans" pitchFamily="34" charset="-122"/>
                <a:cs typeface="DM Sans" pitchFamily="34" charset="-120"/>
              </a:rPr>
              <a:t>113K</a:t>
            </a:r>
            <a:endParaRPr lang="en-US" sz="4000" dirty="0"/>
          </a:p>
        </p:txBody>
      </p:sp>
      <p:sp>
        <p:nvSpPr>
          <p:cNvPr id="12" name="Text 10"/>
          <p:cNvSpPr/>
          <p:nvPr/>
        </p:nvSpPr>
        <p:spPr>
          <a:xfrm>
            <a:off x="8227467" y="2673300"/>
            <a:ext cx="3004236"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475"/>
                </a:solidFill>
                <a:latin typeface="DM Sans" pitchFamily="34" charset="0"/>
                <a:ea typeface="DM Sans" pitchFamily="34" charset="-122"/>
                <a:cs typeface="DM Sans" pitchFamily="34" charset="-120"/>
              </a:rPr>
              <a:t>unique customers</a:t>
            </a:r>
            <a:endParaRPr lang="en-US" sz="1400" dirty="0"/>
          </a:p>
        </p:txBody>
      </p:sp>
      <p:sp>
        <p:nvSpPr>
          <p:cNvPr id="13" name="Shape 11"/>
          <p:cNvSpPr/>
          <p:nvPr/>
        </p:nvSpPr>
        <p:spPr>
          <a:xfrm>
            <a:off x="815975" y="3320355"/>
            <a:ext cx="3380284" cy="1459210"/>
          </a:xfrm>
          <a:prstGeom prst="roundRect">
            <a:avLst>
              <a:gd name="adj" fmla="val 6745"/>
            </a:avLst>
          </a:prstGeom>
          <a:solidFill>
            <a:srgbClr val="FFFFFF"/>
          </a:solidFill>
          <a:ln w="6350">
            <a:solidFill>
              <a:srgbClr val="E2DED2"/>
            </a:solidFill>
            <a:prstDash val="solid"/>
          </a:ln>
        </p:spPr>
      </p:sp>
      <p:sp>
        <p:nvSpPr>
          <p:cNvPr id="14" name="Text 12"/>
          <p:cNvSpPr/>
          <p:nvPr/>
        </p:nvSpPr>
        <p:spPr>
          <a:xfrm>
            <a:off x="1047750" y="3526730"/>
            <a:ext cx="3004236"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14213D"/>
                </a:solidFill>
                <a:latin typeface="DM Sans" pitchFamily="34" charset="0"/>
                <a:ea typeface="DM Sans" pitchFamily="34" charset="-122"/>
                <a:cs typeface="DM Sans" pitchFamily="34" charset="-120"/>
              </a:rPr>
              <a:t>9.41</a:t>
            </a:r>
            <a:endParaRPr lang="en-US" sz="4000" dirty="0"/>
          </a:p>
        </p:txBody>
      </p:sp>
      <p:sp>
        <p:nvSpPr>
          <p:cNvPr id="15" name="Text 13"/>
          <p:cNvSpPr/>
          <p:nvPr/>
        </p:nvSpPr>
        <p:spPr>
          <a:xfrm>
            <a:off x="1047750" y="4110930"/>
            <a:ext cx="3004236"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475"/>
                </a:solidFill>
                <a:latin typeface="DM Sans" pitchFamily="34" charset="0"/>
                <a:ea typeface="DM Sans" pitchFamily="34" charset="-122"/>
                <a:cs typeface="DM Sans" pitchFamily="34" charset="-120"/>
              </a:rPr>
              <a:t>average days to deliver, delivered orders only</a:t>
            </a:r>
            <a:endParaRPr lang="en-US" sz="1400" dirty="0"/>
          </a:p>
        </p:txBody>
      </p:sp>
      <p:sp>
        <p:nvSpPr>
          <p:cNvPr id="16" name="Shape 14"/>
          <p:cNvSpPr/>
          <p:nvPr/>
        </p:nvSpPr>
        <p:spPr>
          <a:xfrm>
            <a:off x="4405809" y="3320355"/>
            <a:ext cx="3380333" cy="1459210"/>
          </a:xfrm>
          <a:prstGeom prst="roundRect">
            <a:avLst>
              <a:gd name="adj" fmla="val 6745"/>
            </a:avLst>
          </a:prstGeom>
          <a:solidFill>
            <a:srgbClr val="FFFFFF"/>
          </a:solidFill>
          <a:ln w="6350">
            <a:solidFill>
              <a:srgbClr val="E2DED2"/>
            </a:solidFill>
            <a:prstDash val="solid"/>
          </a:ln>
        </p:spPr>
      </p:sp>
      <p:sp>
        <p:nvSpPr>
          <p:cNvPr id="17" name="Text 15"/>
          <p:cNvSpPr/>
          <p:nvPr/>
        </p:nvSpPr>
        <p:spPr>
          <a:xfrm>
            <a:off x="4637584" y="3526730"/>
            <a:ext cx="3004287"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14213D"/>
                </a:solidFill>
                <a:latin typeface="DM Sans" pitchFamily="34" charset="0"/>
                <a:ea typeface="DM Sans" pitchFamily="34" charset="-122"/>
                <a:cs typeface="DM Sans" pitchFamily="34" charset="-120"/>
              </a:rPr>
              <a:t>30.5K</a:t>
            </a:r>
            <a:endParaRPr lang="en-US" sz="4000" dirty="0"/>
          </a:p>
        </p:txBody>
      </p:sp>
      <p:sp>
        <p:nvSpPr>
          <p:cNvPr id="18" name="Text 16"/>
          <p:cNvSpPr/>
          <p:nvPr/>
        </p:nvSpPr>
        <p:spPr>
          <a:xfrm>
            <a:off x="4637584" y="4110930"/>
            <a:ext cx="3004287"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475"/>
                </a:solidFill>
                <a:latin typeface="DM Sans" pitchFamily="34" charset="0"/>
                <a:ea typeface="DM Sans" pitchFamily="34" charset="-122"/>
                <a:cs typeface="DM Sans" pitchFamily="34" charset="-120"/>
              </a:rPr>
              <a:t>orders returned, about 27% of all orders</a:t>
            </a:r>
            <a:endParaRPr lang="en-US" sz="1400" dirty="0"/>
          </a:p>
        </p:txBody>
      </p:sp>
      <p:sp>
        <p:nvSpPr>
          <p:cNvPr id="19" name="Shape 17"/>
          <p:cNvSpPr/>
          <p:nvPr/>
        </p:nvSpPr>
        <p:spPr>
          <a:xfrm>
            <a:off x="7995692" y="3320355"/>
            <a:ext cx="3380284" cy="1459210"/>
          </a:xfrm>
          <a:prstGeom prst="roundRect">
            <a:avLst>
              <a:gd name="adj" fmla="val 6745"/>
            </a:avLst>
          </a:prstGeom>
          <a:solidFill>
            <a:srgbClr val="FFFFFF"/>
          </a:solidFill>
          <a:ln w="6350">
            <a:solidFill>
              <a:srgbClr val="E2DED2"/>
            </a:solidFill>
            <a:prstDash val="solid"/>
          </a:ln>
        </p:spPr>
      </p:sp>
      <p:sp>
        <p:nvSpPr>
          <p:cNvPr id="20" name="Text 18"/>
          <p:cNvSpPr/>
          <p:nvPr/>
        </p:nvSpPr>
        <p:spPr>
          <a:xfrm>
            <a:off x="8227467" y="3526730"/>
            <a:ext cx="3004236"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14213D"/>
                </a:solidFill>
                <a:latin typeface="DM Sans" pitchFamily="34" charset="0"/>
                <a:ea typeface="DM Sans" pitchFamily="34" charset="-122"/>
                <a:cs typeface="DM Sans" pitchFamily="34" charset="-120"/>
              </a:rPr>
              <a:t>2.73</a:t>
            </a:r>
            <a:endParaRPr lang="en-US" sz="4000" dirty="0"/>
          </a:p>
        </p:txBody>
      </p:sp>
      <p:sp>
        <p:nvSpPr>
          <p:cNvPr id="21" name="Text 19"/>
          <p:cNvSpPr/>
          <p:nvPr/>
        </p:nvSpPr>
        <p:spPr>
          <a:xfrm>
            <a:off x="8227467" y="4110930"/>
            <a:ext cx="3004236"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B6475"/>
                </a:solidFill>
                <a:latin typeface="DM Sans" pitchFamily="34" charset="0"/>
                <a:ea typeface="DM Sans" pitchFamily="34" charset="-122"/>
                <a:cs typeface="DM Sans" pitchFamily="34" charset="-120"/>
              </a:rPr>
              <a:t>average customer rating</a:t>
            </a:r>
            <a:endParaRPr lang="en-US" sz="1400" dirty="0"/>
          </a:p>
        </p:txBody>
      </p:sp>
      <p:sp>
        <p:nvSpPr>
          <p:cNvPr id="22" name="Text 2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Amazon E-Commerce · Power BI capstone</a:t>
            </a:r>
            <a:endParaRPr lang="en-US" sz="1200" dirty="0"/>
          </a:p>
        </p:txBody>
      </p:sp>
      <p:sp>
        <p:nvSpPr>
          <p:cNvPr id="23" name="Text 2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CUSTOMERS BY YEAR</a:t>
            </a:r>
            <a:endParaRPr lang="en-US" sz="1200" dirty="0"/>
          </a:p>
        </p:txBody>
      </p:sp>
      <p:sp>
        <p:nvSpPr>
          <p:cNvPr id="3" name="Text 1"/>
          <p:cNvSpPr/>
          <p:nvPr>
            <p:ph type="title"/>
          </p:nvPr>
        </p:nvSpPr>
        <p:spPr>
          <a:xfrm>
            <a:off x="812800" y="1127720"/>
            <a:ext cx="9810750"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Customer count stayed flat for five years, then jumped 43% in 2020</a:t>
            </a:r>
            <a:endParaRPr lang="en-US" sz="3200" dirty="0"/>
          </a:p>
        </p:txBody>
      </p:sp>
      <p:sp>
        <p:nvSpPr>
          <p:cNvPr id="4" name="Shape 2"/>
          <p:cNvSpPr/>
          <p:nvPr/>
        </p:nvSpPr>
        <p:spPr>
          <a:xfrm>
            <a:off x="815975" y="2278955"/>
            <a:ext cx="6399510" cy="3099991"/>
          </a:xfrm>
          <a:prstGeom prst="roundRect">
            <a:avLst>
              <a:gd name="adj" fmla="val 3175"/>
            </a:avLst>
          </a:prstGeom>
          <a:solidFill>
            <a:srgbClr val="FFFFFF"/>
          </a:solidFill>
          <a:ln w="6350">
            <a:solidFill>
              <a:srgbClr val="E2DED2"/>
            </a:solidFill>
            <a:prstDash val="solid"/>
          </a:ln>
        </p:spPr>
      </p:sp>
      <p:sp>
        <p:nvSpPr>
          <p:cNvPr id="5" name="Text 3"/>
          <p:cNvSpPr/>
          <p:nvPr/>
        </p:nvSpPr>
        <p:spPr>
          <a:xfrm>
            <a:off x="1022350" y="3133030"/>
            <a:ext cx="91311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17,624</a:t>
            </a:r>
            <a:endParaRPr lang="en-US" sz="1200" dirty="0"/>
          </a:p>
        </p:txBody>
      </p:sp>
      <p:sp>
        <p:nvSpPr>
          <p:cNvPr id="6" name="Shape 4"/>
          <p:cNvSpPr/>
          <p:nvPr/>
        </p:nvSpPr>
        <p:spPr>
          <a:xfrm>
            <a:off x="1047750" y="3397151"/>
            <a:ext cx="862310" cy="1511300"/>
          </a:xfrm>
          <a:custGeom>
            <a:avLst/>
            <a:gdLst/>
            <a:ahLst/>
            <a:cxnLst/>
            <a:rect l="l" t="t" r="r" b="b"/>
            <a:pathLst>
              <a:path w="862310" h="1511300">
                <a:moveTo>
                  <a:pt x="50800" y="0"/>
                </a:moveTo>
                <a:lnTo>
                  <a:pt x="811510" y="0"/>
                </a:lnTo>
                <a:arcTo hR="50800" wR="50800" stAng="16200000" swAng="5400000"/>
                <a:lnTo>
                  <a:pt x="862310" y="1511300"/>
                </a:lnTo>
                <a:lnTo>
                  <a:pt x="0" y="1511300"/>
                </a:lnTo>
                <a:lnTo>
                  <a:pt x="0" y="50800"/>
                </a:lnTo>
                <a:arcTo hR="50800" wR="50800" stAng="10800000" swAng="5400000"/>
                <a:close/>
              </a:path>
            </a:pathLst>
          </a:custGeom>
          <a:solidFill>
            <a:srgbClr val="14213D"/>
          </a:solidFill>
          <a:ln/>
        </p:spPr>
      </p:sp>
      <p:sp>
        <p:nvSpPr>
          <p:cNvPr id="7" name="Text 5"/>
          <p:cNvSpPr/>
          <p:nvPr/>
        </p:nvSpPr>
        <p:spPr>
          <a:xfrm>
            <a:off x="1022350" y="4959251"/>
            <a:ext cx="91311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5"/>
                </a:solidFill>
                <a:latin typeface="DM Sans" pitchFamily="34" charset="0"/>
                <a:ea typeface="DM Sans" pitchFamily="34" charset="-122"/>
                <a:cs typeface="DM Sans" pitchFamily="34" charset="-120"/>
              </a:rPr>
              <a:t>2015</a:t>
            </a:r>
            <a:endParaRPr lang="en-US" sz="1200" dirty="0"/>
          </a:p>
        </p:txBody>
      </p:sp>
      <p:sp>
        <p:nvSpPr>
          <p:cNvPr id="8" name="Text 6"/>
          <p:cNvSpPr/>
          <p:nvPr/>
        </p:nvSpPr>
        <p:spPr>
          <a:xfrm>
            <a:off x="2037060" y="3133030"/>
            <a:ext cx="91316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17,634</a:t>
            </a:r>
            <a:endParaRPr lang="en-US" sz="1200" dirty="0"/>
          </a:p>
        </p:txBody>
      </p:sp>
      <p:sp>
        <p:nvSpPr>
          <p:cNvPr id="9" name="Shape 7"/>
          <p:cNvSpPr/>
          <p:nvPr/>
        </p:nvSpPr>
        <p:spPr>
          <a:xfrm>
            <a:off x="2062460" y="3397151"/>
            <a:ext cx="862360" cy="1511300"/>
          </a:xfrm>
          <a:custGeom>
            <a:avLst/>
            <a:gdLst/>
            <a:ahLst/>
            <a:cxnLst/>
            <a:rect l="l" t="t" r="r" b="b"/>
            <a:pathLst>
              <a:path w="862360" h="1511300">
                <a:moveTo>
                  <a:pt x="50800" y="0"/>
                </a:moveTo>
                <a:lnTo>
                  <a:pt x="811560" y="0"/>
                </a:lnTo>
                <a:arcTo hR="50800" wR="50800" stAng="16200000" swAng="5400000"/>
                <a:lnTo>
                  <a:pt x="862360" y="1511300"/>
                </a:lnTo>
                <a:lnTo>
                  <a:pt x="0" y="1511300"/>
                </a:lnTo>
                <a:lnTo>
                  <a:pt x="0" y="50800"/>
                </a:lnTo>
                <a:arcTo hR="50800" wR="50800" stAng="10800000" swAng="5400000"/>
                <a:close/>
              </a:path>
            </a:pathLst>
          </a:custGeom>
          <a:solidFill>
            <a:srgbClr val="14213D"/>
          </a:solidFill>
          <a:ln/>
        </p:spPr>
      </p:sp>
      <p:sp>
        <p:nvSpPr>
          <p:cNvPr id="10" name="Text 8"/>
          <p:cNvSpPr/>
          <p:nvPr/>
        </p:nvSpPr>
        <p:spPr>
          <a:xfrm>
            <a:off x="2037060" y="4959251"/>
            <a:ext cx="91316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5"/>
                </a:solidFill>
                <a:latin typeface="DM Sans" pitchFamily="34" charset="0"/>
                <a:ea typeface="DM Sans" pitchFamily="34" charset="-122"/>
                <a:cs typeface="DM Sans" pitchFamily="34" charset="-120"/>
              </a:rPr>
              <a:t>2016</a:t>
            </a:r>
            <a:endParaRPr lang="en-US" sz="1200" dirty="0"/>
          </a:p>
        </p:txBody>
      </p:sp>
      <p:sp>
        <p:nvSpPr>
          <p:cNvPr id="11" name="Text 9"/>
          <p:cNvSpPr/>
          <p:nvPr/>
        </p:nvSpPr>
        <p:spPr>
          <a:xfrm>
            <a:off x="3051820" y="3126680"/>
            <a:ext cx="91311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17,672</a:t>
            </a:r>
            <a:endParaRPr lang="en-US" sz="1200" dirty="0"/>
          </a:p>
        </p:txBody>
      </p:sp>
      <p:sp>
        <p:nvSpPr>
          <p:cNvPr id="12" name="Shape 10"/>
          <p:cNvSpPr/>
          <p:nvPr/>
        </p:nvSpPr>
        <p:spPr>
          <a:xfrm>
            <a:off x="3077220" y="3390801"/>
            <a:ext cx="862310" cy="1517650"/>
          </a:xfrm>
          <a:custGeom>
            <a:avLst/>
            <a:gdLst/>
            <a:ahLst/>
            <a:cxnLst/>
            <a:rect l="l" t="t" r="r" b="b"/>
            <a:pathLst>
              <a:path w="862310" h="1517650">
                <a:moveTo>
                  <a:pt x="50800" y="0"/>
                </a:moveTo>
                <a:lnTo>
                  <a:pt x="811510" y="0"/>
                </a:lnTo>
                <a:arcTo hR="50800" wR="50800" stAng="16200000" swAng="5400000"/>
                <a:lnTo>
                  <a:pt x="862310" y="1517650"/>
                </a:lnTo>
                <a:lnTo>
                  <a:pt x="0" y="1517650"/>
                </a:lnTo>
                <a:lnTo>
                  <a:pt x="0" y="50800"/>
                </a:lnTo>
                <a:arcTo hR="50800" wR="50800" stAng="10800000" swAng="5400000"/>
                <a:close/>
              </a:path>
            </a:pathLst>
          </a:custGeom>
          <a:solidFill>
            <a:srgbClr val="14213D"/>
          </a:solidFill>
          <a:ln/>
        </p:spPr>
      </p:sp>
      <p:sp>
        <p:nvSpPr>
          <p:cNvPr id="13" name="Text 11"/>
          <p:cNvSpPr/>
          <p:nvPr/>
        </p:nvSpPr>
        <p:spPr>
          <a:xfrm>
            <a:off x="3051820" y="4959251"/>
            <a:ext cx="91311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5"/>
                </a:solidFill>
                <a:latin typeface="DM Sans" pitchFamily="34" charset="0"/>
                <a:ea typeface="DM Sans" pitchFamily="34" charset="-122"/>
                <a:cs typeface="DM Sans" pitchFamily="34" charset="-120"/>
              </a:rPr>
              <a:t>2017</a:t>
            </a:r>
            <a:endParaRPr lang="en-US" sz="1200" dirty="0"/>
          </a:p>
        </p:txBody>
      </p:sp>
      <p:sp>
        <p:nvSpPr>
          <p:cNvPr id="14" name="Text 12"/>
          <p:cNvSpPr/>
          <p:nvPr/>
        </p:nvSpPr>
        <p:spPr>
          <a:xfrm>
            <a:off x="4066530" y="3158430"/>
            <a:ext cx="91316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17,354</a:t>
            </a:r>
            <a:endParaRPr lang="en-US" sz="1200" dirty="0"/>
          </a:p>
        </p:txBody>
      </p:sp>
      <p:sp>
        <p:nvSpPr>
          <p:cNvPr id="15" name="Shape 13"/>
          <p:cNvSpPr/>
          <p:nvPr/>
        </p:nvSpPr>
        <p:spPr>
          <a:xfrm>
            <a:off x="4091930" y="3422551"/>
            <a:ext cx="862360" cy="1485900"/>
          </a:xfrm>
          <a:custGeom>
            <a:avLst/>
            <a:gdLst/>
            <a:ahLst/>
            <a:cxnLst/>
            <a:rect l="l" t="t" r="r" b="b"/>
            <a:pathLst>
              <a:path w="862360" h="1485900">
                <a:moveTo>
                  <a:pt x="50800" y="0"/>
                </a:moveTo>
                <a:lnTo>
                  <a:pt x="811560" y="0"/>
                </a:lnTo>
                <a:arcTo hR="50800" wR="50800" stAng="16200000" swAng="5400000"/>
                <a:lnTo>
                  <a:pt x="862360" y="1485900"/>
                </a:lnTo>
                <a:lnTo>
                  <a:pt x="0" y="1485900"/>
                </a:lnTo>
                <a:lnTo>
                  <a:pt x="0" y="50800"/>
                </a:lnTo>
                <a:arcTo hR="50800" wR="50800" stAng="10800000" swAng="5400000"/>
                <a:close/>
              </a:path>
            </a:pathLst>
          </a:custGeom>
          <a:solidFill>
            <a:srgbClr val="14213D"/>
          </a:solidFill>
          <a:ln/>
        </p:spPr>
      </p:sp>
      <p:sp>
        <p:nvSpPr>
          <p:cNvPr id="16" name="Text 14"/>
          <p:cNvSpPr/>
          <p:nvPr/>
        </p:nvSpPr>
        <p:spPr>
          <a:xfrm>
            <a:off x="4066530" y="4959251"/>
            <a:ext cx="91316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5"/>
                </a:solidFill>
                <a:latin typeface="DM Sans" pitchFamily="34" charset="0"/>
                <a:ea typeface="DM Sans" pitchFamily="34" charset="-122"/>
                <a:cs typeface="DM Sans" pitchFamily="34" charset="-120"/>
              </a:rPr>
              <a:t>2018</a:t>
            </a:r>
            <a:endParaRPr lang="en-US" sz="1200" dirty="0"/>
          </a:p>
        </p:txBody>
      </p:sp>
      <p:sp>
        <p:nvSpPr>
          <p:cNvPr id="17" name="Text 15"/>
          <p:cNvSpPr/>
          <p:nvPr/>
        </p:nvSpPr>
        <p:spPr>
          <a:xfrm>
            <a:off x="5081290" y="3139380"/>
            <a:ext cx="91311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17,537</a:t>
            </a:r>
            <a:endParaRPr lang="en-US" sz="1200" dirty="0"/>
          </a:p>
        </p:txBody>
      </p:sp>
      <p:sp>
        <p:nvSpPr>
          <p:cNvPr id="18" name="Shape 16"/>
          <p:cNvSpPr/>
          <p:nvPr/>
        </p:nvSpPr>
        <p:spPr>
          <a:xfrm>
            <a:off x="5106690" y="3403501"/>
            <a:ext cx="862310" cy="1504950"/>
          </a:xfrm>
          <a:custGeom>
            <a:avLst/>
            <a:gdLst/>
            <a:ahLst/>
            <a:cxnLst/>
            <a:rect l="l" t="t" r="r" b="b"/>
            <a:pathLst>
              <a:path w="862310" h="1504950">
                <a:moveTo>
                  <a:pt x="50800" y="0"/>
                </a:moveTo>
                <a:lnTo>
                  <a:pt x="811510" y="0"/>
                </a:lnTo>
                <a:arcTo hR="50800" wR="50800" stAng="16200000" swAng="5400000"/>
                <a:lnTo>
                  <a:pt x="862310" y="1504950"/>
                </a:lnTo>
                <a:lnTo>
                  <a:pt x="0" y="1504950"/>
                </a:lnTo>
                <a:lnTo>
                  <a:pt x="0" y="50800"/>
                </a:lnTo>
                <a:arcTo hR="50800" wR="50800" stAng="10800000" swAng="5400000"/>
                <a:close/>
              </a:path>
            </a:pathLst>
          </a:custGeom>
          <a:solidFill>
            <a:srgbClr val="14213D"/>
          </a:solidFill>
          <a:ln/>
        </p:spPr>
      </p:sp>
      <p:sp>
        <p:nvSpPr>
          <p:cNvPr id="19" name="Text 17"/>
          <p:cNvSpPr/>
          <p:nvPr/>
        </p:nvSpPr>
        <p:spPr>
          <a:xfrm>
            <a:off x="5081290" y="4959251"/>
            <a:ext cx="91311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5"/>
                </a:solidFill>
                <a:latin typeface="DM Sans" pitchFamily="34" charset="0"/>
                <a:ea typeface="DM Sans" pitchFamily="34" charset="-122"/>
                <a:cs typeface="DM Sans" pitchFamily="34" charset="-120"/>
              </a:rPr>
              <a:t>2019</a:t>
            </a:r>
            <a:endParaRPr lang="en-US" sz="1200" dirty="0"/>
          </a:p>
        </p:txBody>
      </p:sp>
      <p:sp>
        <p:nvSpPr>
          <p:cNvPr id="20" name="Text 18"/>
          <p:cNvSpPr/>
          <p:nvPr/>
        </p:nvSpPr>
        <p:spPr>
          <a:xfrm>
            <a:off x="6096000" y="2485330"/>
            <a:ext cx="91311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5F00"/>
                </a:solidFill>
                <a:latin typeface="DM Sans" pitchFamily="34" charset="0"/>
                <a:ea typeface="DM Sans" pitchFamily="34" charset="-122"/>
                <a:cs typeface="DM Sans" pitchFamily="34" charset="-120"/>
              </a:rPr>
              <a:t>25,179</a:t>
            </a:r>
            <a:endParaRPr lang="en-US" sz="1200" dirty="0"/>
          </a:p>
        </p:txBody>
      </p:sp>
      <p:sp>
        <p:nvSpPr>
          <p:cNvPr id="21" name="Shape 19"/>
          <p:cNvSpPr/>
          <p:nvPr/>
        </p:nvSpPr>
        <p:spPr>
          <a:xfrm>
            <a:off x="6121400" y="2749451"/>
            <a:ext cx="862310" cy="2159000"/>
          </a:xfrm>
          <a:custGeom>
            <a:avLst/>
            <a:gdLst/>
            <a:ahLst/>
            <a:cxnLst/>
            <a:rect l="l" t="t" r="r" b="b"/>
            <a:pathLst>
              <a:path w="862310" h="2159000">
                <a:moveTo>
                  <a:pt x="50800" y="0"/>
                </a:moveTo>
                <a:lnTo>
                  <a:pt x="811510" y="0"/>
                </a:lnTo>
                <a:arcTo hR="50800" wR="50800" stAng="16200000" swAng="5400000"/>
                <a:lnTo>
                  <a:pt x="862310" y="2159000"/>
                </a:lnTo>
                <a:lnTo>
                  <a:pt x="0" y="2159000"/>
                </a:lnTo>
                <a:lnTo>
                  <a:pt x="0" y="50800"/>
                </a:lnTo>
                <a:arcTo hR="50800" wR="50800" stAng="10800000" swAng="5400000"/>
                <a:close/>
              </a:path>
            </a:pathLst>
          </a:custGeom>
          <a:solidFill>
            <a:srgbClr val="E07A00"/>
          </a:solidFill>
          <a:ln/>
        </p:spPr>
      </p:sp>
      <p:sp>
        <p:nvSpPr>
          <p:cNvPr id="22" name="Text 20"/>
          <p:cNvSpPr/>
          <p:nvPr/>
        </p:nvSpPr>
        <p:spPr>
          <a:xfrm>
            <a:off x="6096000" y="4959251"/>
            <a:ext cx="91311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2020</a:t>
            </a:r>
            <a:endParaRPr lang="en-US" sz="1200" dirty="0"/>
          </a:p>
        </p:txBody>
      </p:sp>
      <p:sp>
        <p:nvSpPr>
          <p:cNvPr id="23" name="Text 21"/>
          <p:cNvSpPr/>
          <p:nvPr/>
        </p:nvSpPr>
        <p:spPr>
          <a:xfrm>
            <a:off x="7425035" y="2515195"/>
            <a:ext cx="3950990" cy="791170"/>
          </a:xfrm>
          <a:prstGeom prst="roundRect">
            <a:avLst>
              <a:gd name="adj" fmla="val 12440"/>
            </a:avLst>
          </a:prstGeom>
          <a:solidFill>
            <a:srgbClr val="FFFFFF"/>
          </a:solidFill>
          <a:ln w="6350">
            <a:solidFill>
              <a:srgbClr val="E2DED2"/>
            </a:solidFill>
            <a:prstDash val="solid"/>
          </a:ln>
        </p:spPr>
        <p:txBody>
          <a:bodyPr wrap="square" lIns="152147" tIns="126747" rIns="44476" bIns="101347" rtlCol="0" anchor="t">
            <a:normAutofit/>
          </a:bodyPr>
          <a:lstStyle/>
          <a:p>
            <a:pPr algn="l" indent="0" marL="0">
              <a:lnSpc>
                <a:spcPts val="1890"/>
              </a:lnSpc>
              <a:buNone/>
            </a:pPr>
            <a:r>
              <a:rPr lang="en-US" sz="1400" b="1" dirty="0">
                <a:solidFill>
                  <a:srgbClr val="14213D"/>
                </a:solidFill>
                <a:latin typeface="DM Sans" pitchFamily="34" charset="0"/>
                <a:ea typeface="DM Sans" pitchFamily="34" charset="-122"/>
                <a:cs typeface="DM Sans" pitchFamily="34" charset="-120"/>
              </a:rPr>
              <a:t>Flat base.</a:t>
            </a:r>
            <a:r>
              <a:rPr lang="en-US" sz="1400" dirty="0">
                <a:solidFill>
                  <a:srgbClr val="14213D"/>
                </a:solidFill>
                <a:latin typeface="DM Sans" pitchFamily="34" charset="0"/>
                <a:ea typeface="DM Sans" pitchFamily="34" charset="-122"/>
                <a:cs typeface="DM Sans" pitchFamily="34" charset="-120"/>
              </a:rPr>
              <a:t> About 17.4K to 17.7K customers a year from 2015 to 2019.</a:t>
            </a:r>
            <a:endParaRPr lang="en-US" sz="1400" dirty="0"/>
          </a:p>
        </p:txBody>
      </p:sp>
      <p:sp>
        <p:nvSpPr>
          <p:cNvPr id="24" name="Text 22"/>
          <p:cNvSpPr/>
          <p:nvPr/>
        </p:nvSpPr>
        <p:spPr>
          <a:xfrm>
            <a:off x="7425035" y="3439716"/>
            <a:ext cx="3950990" cy="791170"/>
          </a:xfrm>
          <a:prstGeom prst="roundRect">
            <a:avLst>
              <a:gd name="adj" fmla="val 12440"/>
            </a:avLst>
          </a:prstGeom>
          <a:solidFill>
            <a:srgbClr val="FFFFFF"/>
          </a:solidFill>
          <a:ln w="6350">
            <a:solidFill>
              <a:srgbClr val="E2DED2"/>
            </a:solidFill>
            <a:prstDash val="solid"/>
          </a:ln>
        </p:spPr>
        <p:txBody>
          <a:bodyPr wrap="square" lIns="152147" tIns="126747" rIns="44476" bIns="101347" rtlCol="0" anchor="t">
            <a:normAutofit/>
          </a:bodyPr>
          <a:lstStyle/>
          <a:p>
            <a:pPr algn="l" indent="0" marL="0">
              <a:lnSpc>
                <a:spcPts val="1890"/>
              </a:lnSpc>
              <a:buNone/>
            </a:pPr>
            <a:r>
              <a:rPr lang="en-US" sz="1400" b="1" dirty="0">
                <a:solidFill>
                  <a:srgbClr val="14213D"/>
                </a:solidFill>
                <a:latin typeface="DM Sans" pitchFamily="34" charset="0"/>
                <a:ea typeface="DM Sans" pitchFamily="34" charset="-122"/>
                <a:cs typeface="DM Sans" pitchFamily="34" charset="-120"/>
              </a:rPr>
              <a:t>One growth year.</a:t>
            </a:r>
            <a:r>
              <a:rPr lang="en-US" sz="1400" dirty="0">
                <a:solidFill>
                  <a:srgbClr val="14213D"/>
                </a:solidFill>
                <a:latin typeface="DM Sans" pitchFamily="34" charset="0"/>
                <a:ea typeface="DM Sans" pitchFamily="34" charset="-122"/>
                <a:cs typeface="DM Sans" pitchFamily="34" charset="-120"/>
              </a:rPr>
              <a:t> 2020 reached 25,179, the only real jump in the data.</a:t>
            </a:r>
            <a:endParaRPr lang="en-US" sz="1400" dirty="0"/>
          </a:p>
        </p:txBody>
      </p:sp>
      <p:sp>
        <p:nvSpPr>
          <p:cNvPr id="25" name="Text 23"/>
          <p:cNvSpPr/>
          <p:nvPr/>
        </p:nvSpPr>
        <p:spPr>
          <a:xfrm>
            <a:off x="7421860" y="4361061"/>
            <a:ext cx="3957340" cy="784820"/>
          </a:xfrm>
          <a:prstGeom prst="roundRect">
            <a:avLst>
              <a:gd name="adj" fmla="val 12946"/>
            </a:avLst>
          </a:prstGeom>
          <a:solidFill>
            <a:srgbClr val="14213D"/>
          </a:solidFill>
          <a:ln/>
        </p:spPr>
        <p:txBody>
          <a:bodyPr wrap="square" lIns="148042" tIns="122642" rIns="39990" bIns="97242" rtlCol="0" anchor="t">
            <a:normAutofit/>
          </a:bodyPr>
          <a:lstStyle/>
          <a:p>
            <a:pPr algn="l" indent="0" marL="0">
              <a:lnSpc>
                <a:spcPts val="1890"/>
              </a:lnSpc>
              <a:buNone/>
            </a:pPr>
            <a:r>
              <a:rPr lang="en-US" sz="1400" b="1" dirty="0">
                <a:solidFill>
                  <a:srgbClr val="F5A623"/>
                </a:solidFill>
                <a:latin typeface="DM Sans" pitchFamily="34" charset="0"/>
                <a:ea typeface="DM Sans" pitchFamily="34" charset="-122"/>
                <a:cs typeface="DM Sans" pitchFamily="34" charset="-120"/>
              </a:rPr>
              <a:t>Action.</a:t>
            </a:r>
            <a:r>
              <a:rPr lang="en-US" sz="1400" dirty="0">
                <a:solidFill>
                  <a:srgbClr val="F6F4EE"/>
                </a:solidFill>
                <a:latin typeface="DM Sans" pitchFamily="34" charset="0"/>
                <a:ea typeface="DM Sans" pitchFamily="34" charset="-122"/>
                <a:cs typeface="DM Sans" pitchFamily="34" charset="-120"/>
              </a:rPr>
              <a:t> Find what drove 2020 so it can be repeated.</a:t>
            </a:r>
            <a:endParaRPr lang="en-US" sz="1400" dirty="0"/>
          </a:p>
        </p:txBody>
      </p:sp>
      <p:sp>
        <p:nvSpPr>
          <p:cNvPr id="26" name="Text 2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Amazon E-Commerce · Power BI capstone</a:t>
            </a:r>
            <a:endParaRPr lang="en-US" sz="1200" dirty="0"/>
          </a:p>
        </p:txBody>
      </p:sp>
      <p:sp>
        <p:nvSpPr>
          <p:cNvPr id="27" name="Text 2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REVENUE BY CATEGORY</a:t>
            </a:r>
            <a:endParaRPr lang="en-US" sz="1200" dirty="0"/>
          </a:p>
        </p:txBody>
      </p:sp>
      <p:sp>
        <p:nvSpPr>
          <p:cNvPr id="3" name="Text 1"/>
          <p:cNvSpPr/>
          <p:nvPr>
            <p:ph type="title"/>
          </p:nvPr>
        </p:nvSpPr>
        <p:spPr>
          <a:xfrm>
            <a:off x="812800" y="1127720"/>
            <a:ext cx="9810750"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Two categories earn two-thirds of all revenue</a:t>
            </a:r>
            <a:endParaRPr lang="en-US" sz="3200" dirty="0"/>
          </a:p>
        </p:txBody>
      </p:sp>
      <p:sp>
        <p:nvSpPr>
          <p:cNvPr id="4" name="Shape 2"/>
          <p:cNvSpPr/>
          <p:nvPr/>
        </p:nvSpPr>
        <p:spPr>
          <a:xfrm>
            <a:off x="815975" y="1831925"/>
            <a:ext cx="6399510" cy="2867521"/>
          </a:xfrm>
          <a:prstGeom prst="roundRect">
            <a:avLst>
              <a:gd name="adj" fmla="val 3432"/>
            </a:avLst>
          </a:prstGeom>
          <a:solidFill>
            <a:srgbClr val="FFFFFF"/>
          </a:solidFill>
          <a:ln w="6350">
            <a:solidFill>
              <a:srgbClr val="E2DED2"/>
            </a:solidFill>
            <a:prstDash val="solid"/>
          </a:ln>
        </p:spPr>
      </p:sp>
      <p:sp>
        <p:nvSpPr>
          <p:cNvPr id="5" name="Text 3"/>
          <p:cNvSpPr/>
          <p:nvPr/>
        </p:nvSpPr>
        <p:spPr>
          <a:xfrm>
            <a:off x="1047750" y="2087811"/>
            <a:ext cx="1638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Phones and Tablet</a:t>
            </a:r>
            <a:endParaRPr lang="en-US" sz="1300" dirty="0"/>
          </a:p>
        </p:txBody>
      </p:sp>
      <p:sp>
        <p:nvSpPr>
          <p:cNvPr id="6" name="Shape 4"/>
          <p:cNvSpPr/>
          <p:nvPr/>
        </p:nvSpPr>
        <p:spPr>
          <a:xfrm>
            <a:off x="2762250" y="2063700"/>
            <a:ext cx="3175000" cy="279400"/>
          </a:xfrm>
          <a:custGeom>
            <a:avLst/>
            <a:gdLst/>
            <a:ahLst/>
            <a:cxnLst/>
            <a:rect l="l" t="t" r="r" b="b"/>
            <a:pathLst>
              <a:path w="3175000" h="279400">
                <a:moveTo>
                  <a:pt x="0" y="0"/>
                </a:moveTo>
                <a:lnTo>
                  <a:pt x="3124200" y="0"/>
                </a:lnTo>
                <a:arcTo hR="50800" wR="50800" stAng="16200000" swAng="5400000"/>
                <a:lnTo>
                  <a:pt x="3175000" y="228600"/>
                </a:lnTo>
                <a:arcTo hR="50800" wR="50800" stAng="0" swAng="5400000"/>
                <a:lnTo>
                  <a:pt x="0" y="279400"/>
                </a:lnTo>
                <a:lnTo>
                  <a:pt x="0" y="0"/>
                </a:lnTo>
                <a:close/>
              </a:path>
            </a:pathLst>
          </a:custGeom>
          <a:solidFill>
            <a:srgbClr val="E07A00"/>
          </a:solidFill>
          <a:ln/>
        </p:spPr>
      </p:sp>
      <p:sp>
        <p:nvSpPr>
          <p:cNvPr id="7" name="Text 5"/>
          <p:cNvSpPr/>
          <p:nvPr/>
        </p:nvSpPr>
        <p:spPr>
          <a:xfrm>
            <a:off x="6064250" y="2087811"/>
            <a:ext cx="749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₹38.5M</a:t>
            </a:r>
            <a:endParaRPr lang="en-US" sz="1300" dirty="0"/>
          </a:p>
        </p:txBody>
      </p:sp>
      <p:sp>
        <p:nvSpPr>
          <p:cNvPr id="8" name="Text 6"/>
          <p:cNvSpPr/>
          <p:nvPr/>
        </p:nvSpPr>
        <p:spPr>
          <a:xfrm>
            <a:off x="1047750" y="2545011"/>
            <a:ext cx="1638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Electronics</a:t>
            </a:r>
            <a:endParaRPr lang="en-US" sz="1300" dirty="0"/>
          </a:p>
        </p:txBody>
      </p:sp>
      <p:sp>
        <p:nvSpPr>
          <p:cNvPr id="9" name="Shape 7"/>
          <p:cNvSpPr/>
          <p:nvPr/>
        </p:nvSpPr>
        <p:spPr>
          <a:xfrm>
            <a:off x="2762250" y="2520900"/>
            <a:ext cx="2705100" cy="279400"/>
          </a:xfrm>
          <a:custGeom>
            <a:avLst/>
            <a:gdLst/>
            <a:ahLst/>
            <a:cxnLst/>
            <a:rect l="l" t="t" r="r" b="b"/>
            <a:pathLst>
              <a:path w="2705100" h="279400">
                <a:moveTo>
                  <a:pt x="0" y="0"/>
                </a:moveTo>
                <a:lnTo>
                  <a:pt x="2654300" y="0"/>
                </a:lnTo>
                <a:arcTo hR="50800" wR="50800" stAng="16200000" swAng="5400000"/>
                <a:lnTo>
                  <a:pt x="2705100" y="228600"/>
                </a:lnTo>
                <a:arcTo hR="50800" wR="50800" stAng="0" swAng="5400000"/>
                <a:lnTo>
                  <a:pt x="0" y="279400"/>
                </a:lnTo>
                <a:lnTo>
                  <a:pt x="0" y="0"/>
                </a:lnTo>
                <a:close/>
              </a:path>
            </a:pathLst>
          </a:custGeom>
          <a:solidFill>
            <a:srgbClr val="E07A00"/>
          </a:solidFill>
          <a:ln/>
        </p:spPr>
      </p:sp>
      <p:sp>
        <p:nvSpPr>
          <p:cNvPr id="10" name="Text 8"/>
          <p:cNvSpPr/>
          <p:nvPr/>
        </p:nvSpPr>
        <p:spPr>
          <a:xfrm>
            <a:off x="5594350" y="2545011"/>
            <a:ext cx="749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₹32.8M</a:t>
            </a:r>
            <a:endParaRPr lang="en-US" sz="1300" dirty="0"/>
          </a:p>
        </p:txBody>
      </p:sp>
      <p:sp>
        <p:nvSpPr>
          <p:cNvPr id="11" name="Text 9"/>
          <p:cNvSpPr/>
          <p:nvPr/>
        </p:nvSpPr>
        <p:spPr>
          <a:xfrm>
            <a:off x="1047750" y="3002211"/>
            <a:ext cx="1638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Fashion</a:t>
            </a:r>
            <a:endParaRPr lang="en-US" sz="1300" dirty="0"/>
          </a:p>
        </p:txBody>
      </p:sp>
      <p:sp>
        <p:nvSpPr>
          <p:cNvPr id="12" name="Shape 10"/>
          <p:cNvSpPr/>
          <p:nvPr/>
        </p:nvSpPr>
        <p:spPr>
          <a:xfrm>
            <a:off x="2762250" y="2978100"/>
            <a:ext cx="1022350" cy="279400"/>
          </a:xfrm>
          <a:custGeom>
            <a:avLst/>
            <a:gdLst/>
            <a:ahLst/>
            <a:cxnLst/>
            <a:rect l="l" t="t" r="r" b="b"/>
            <a:pathLst>
              <a:path w="1022350" h="279400">
                <a:moveTo>
                  <a:pt x="0" y="0"/>
                </a:moveTo>
                <a:lnTo>
                  <a:pt x="971550" y="0"/>
                </a:lnTo>
                <a:arcTo hR="50800" wR="50800" stAng="16200000" swAng="5400000"/>
                <a:lnTo>
                  <a:pt x="1022350" y="228600"/>
                </a:lnTo>
                <a:arcTo hR="50800" wR="50800" stAng="0" swAng="5400000"/>
                <a:lnTo>
                  <a:pt x="0" y="279400"/>
                </a:lnTo>
                <a:lnTo>
                  <a:pt x="0" y="0"/>
                </a:lnTo>
                <a:close/>
              </a:path>
            </a:pathLst>
          </a:custGeom>
          <a:solidFill>
            <a:srgbClr val="14213D"/>
          </a:solidFill>
          <a:ln/>
        </p:spPr>
      </p:sp>
      <p:sp>
        <p:nvSpPr>
          <p:cNvPr id="13" name="Text 11"/>
          <p:cNvSpPr/>
          <p:nvPr/>
        </p:nvSpPr>
        <p:spPr>
          <a:xfrm>
            <a:off x="3911600" y="3002211"/>
            <a:ext cx="749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₹12.4M</a:t>
            </a:r>
            <a:endParaRPr lang="en-US" sz="1300" dirty="0"/>
          </a:p>
        </p:txBody>
      </p:sp>
      <p:sp>
        <p:nvSpPr>
          <p:cNvPr id="14" name="Text 12"/>
          <p:cNvSpPr/>
          <p:nvPr/>
        </p:nvSpPr>
        <p:spPr>
          <a:xfrm>
            <a:off x="1047750" y="3459411"/>
            <a:ext cx="1638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Health and Beauty</a:t>
            </a:r>
            <a:endParaRPr lang="en-US" sz="1300" dirty="0"/>
          </a:p>
        </p:txBody>
      </p:sp>
      <p:sp>
        <p:nvSpPr>
          <p:cNvPr id="15" name="Shape 13"/>
          <p:cNvSpPr/>
          <p:nvPr/>
        </p:nvSpPr>
        <p:spPr>
          <a:xfrm>
            <a:off x="2762250" y="3435300"/>
            <a:ext cx="984250" cy="279400"/>
          </a:xfrm>
          <a:custGeom>
            <a:avLst/>
            <a:gdLst/>
            <a:ahLst/>
            <a:cxnLst/>
            <a:rect l="l" t="t" r="r" b="b"/>
            <a:pathLst>
              <a:path w="984250" h="279400">
                <a:moveTo>
                  <a:pt x="0" y="0"/>
                </a:moveTo>
                <a:lnTo>
                  <a:pt x="933450" y="0"/>
                </a:lnTo>
                <a:arcTo hR="50800" wR="50800" stAng="16200000" swAng="5400000"/>
                <a:lnTo>
                  <a:pt x="984250" y="228600"/>
                </a:lnTo>
                <a:arcTo hR="50800" wR="50800" stAng="0" swAng="5400000"/>
                <a:lnTo>
                  <a:pt x="0" y="279400"/>
                </a:lnTo>
                <a:lnTo>
                  <a:pt x="0" y="0"/>
                </a:lnTo>
                <a:close/>
              </a:path>
            </a:pathLst>
          </a:custGeom>
          <a:solidFill>
            <a:srgbClr val="14213D"/>
          </a:solidFill>
          <a:ln/>
        </p:spPr>
      </p:sp>
      <p:sp>
        <p:nvSpPr>
          <p:cNvPr id="16" name="Text 14"/>
          <p:cNvSpPr/>
          <p:nvPr/>
        </p:nvSpPr>
        <p:spPr>
          <a:xfrm>
            <a:off x="3873500" y="3459411"/>
            <a:ext cx="749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₹11.9M</a:t>
            </a:r>
            <a:endParaRPr lang="en-US" sz="1300" dirty="0"/>
          </a:p>
        </p:txBody>
      </p:sp>
      <p:sp>
        <p:nvSpPr>
          <p:cNvPr id="17" name="Text 15"/>
          <p:cNvSpPr/>
          <p:nvPr/>
        </p:nvSpPr>
        <p:spPr>
          <a:xfrm>
            <a:off x="1047750" y="3916611"/>
            <a:ext cx="1638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Home and Office</a:t>
            </a:r>
            <a:endParaRPr lang="en-US" sz="1300" dirty="0"/>
          </a:p>
        </p:txBody>
      </p:sp>
      <p:sp>
        <p:nvSpPr>
          <p:cNvPr id="18" name="Shape 16"/>
          <p:cNvSpPr/>
          <p:nvPr/>
        </p:nvSpPr>
        <p:spPr>
          <a:xfrm>
            <a:off x="2762250" y="3892500"/>
            <a:ext cx="952500" cy="279400"/>
          </a:xfrm>
          <a:custGeom>
            <a:avLst/>
            <a:gdLst/>
            <a:ahLst/>
            <a:cxnLst/>
            <a:rect l="l" t="t" r="r" b="b"/>
            <a:pathLst>
              <a:path w="952500" h="279400">
                <a:moveTo>
                  <a:pt x="0" y="0"/>
                </a:moveTo>
                <a:lnTo>
                  <a:pt x="901700" y="0"/>
                </a:lnTo>
                <a:arcTo hR="50800" wR="50800" stAng="16200000" swAng="5400000"/>
                <a:lnTo>
                  <a:pt x="952500" y="228600"/>
                </a:lnTo>
                <a:arcTo hR="50800" wR="50800" stAng="0" swAng="5400000"/>
                <a:lnTo>
                  <a:pt x="0" y="279400"/>
                </a:lnTo>
                <a:lnTo>
                  <a:pt x="0" y="0"/>
                </a:lnTo>
                <a:close/>
              </a:path>
            </a:pathLst>
          </a:custGeom>
          <a:solidFill>
            <a:srgbClr val="14213D"/>
          </a:solidFill>
          <a:ln/>
        </p:spPr>
      </p:sp>
      <p:sp>
        <p:nvSpPr>
          <p:cNvPr id="19" name="Text 17"/>
          <p:cNvSpPr/>
          <p:nvPr/>
        </p:nvSpPr>
        <p:spPr>
          <a:xfrm>
            <a:off x="3841750" y="3916611"/>
            <a:ext cx="749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₹11.5M</a:t>
            </a:r>
            <a:endParaRPr lang="en-US" sz="1300" dirty="0"/>
          </a:p>
        </p:txBody>
      </p:sp>
      <p:sp>
        <p:nvSpPr>
          <p:cNvPr id="20" name="Text 18"/>
          <p:cNvSpPr/>
          <p:nvPr/>
        </p:nvSpPr>
        <p:spPr>
          <a:xfrm>
            <a:off x="7425035" y="1831925"/>
            <a:ext cx="3950990" cy="791170"/>
          </a:xfrm>
          <a:prstGeom prst="roundRect">
            <a:avLst>
              <a:gd name="adj" fmla="val 12440"/>
            </a:avLst>
          </a:prstGeom>
          <a:solidFill>
            <a:srgbClr val="FFFFFF"/>
          </a:solidFill>
          <a:ln w="6350">
            <a:solidFill>
              <a:srgbClr val="E2DED2"/>
            </a:solidFill>
            <a:prstDash val="solid"/>
          </a:ln>
        </p:spPr>
        <p:txBody>
          <a:bodyPr wrap="square" lIns="152147" tIns="126747" rIns="44476" bIns="101347" rtlCol="0" anchor="t">
            <a:normAutofit/>
          </a:bodyPr>
          <a:lstStyle/>
          <a:p>
            <a:pPr algn="l" indent="0" marL="0">
              <a:lnSpc>
                <a:spcPts val="1890"/>
              </a:lnSpc>
              <a:buNone/>
            </a:pPr>
            <a:r>
              <a:rPr lang="en-US" sz="1400" b="1" dirty="0">
                <a:solidFill>
                  <a:srgbClr val="14213D"/>
                </a:solidFill>
                <a:latin typeface="DM Sans" pitchFamily="34" charset="0"/>
                <a:ea typeface="DM Sans" pitchFamily="34" charset="-122"/>
                <a:cs typeface="DM Sans" pitchFamily="34" charset="-120"/>
              </a:rPr>
              <a:t>High value.</a:t>
            </a:r>
            <a:r>
              <a:rPr lang="en-US" sz="1400" dirty="0">
                <a:solidFill>
                  <a:srgbClr val="14213D"/>
                </a:solidFill>
                <a:latin typeface="DM Sans" pitchFamily="34" charset="0"/>
                <a:ea typeface="DM Sans" pitchFamily="34" charset="-122"/>
                <a:cs typeface="DM Sans" pitchFamily="34" charset="-120"/>
              </a:rPr>
              <a:t> Phones and Tablet and Electronics together earn ₹71.4M.</a:t>
            </a:r>
            <a:endParaRPr lang="en-US" sz="1400" dirty="0"/>
          </a:p>
        </p:txBody>
      </p:sp>
      <p:sp>
        <p:nvSpPr>
          <p:cNvPr id="21" name="Text 19"/>
          <p:cNvSpPr/>
          <p:nvPr/>
        </p:nvSpPr>
        <p:spPr>
          <a:xfrm>
            <a:off x="7425035" y="2756446"/>
            <a:ext cx="3950990" cy="1031180"/>
          </a:xfrm>
          <a:prstGeom prst="roundRect">
            <a:avLst>
              <a:gd name="adj" fmla="val 9545"/>
            </a:avLst>
          </a:prstGeom>
          <a:solidFill>
            <a:srgbClr val="FFFFFF"/>
          </a:solidFill>
          <a:ln w="6350">
            <a:solidFill>
              <a:srgbClr val="E2DED2"/>
            </a:solidFill>
            <a:prstDash val="solid"/>
          </a:ln>
        </p:spPr>
        <p:txBody>
          <a:bodyPr wrap="square" lIns="152147" tIns="126747" rIns="44476" bIns="101347" rtlCol="0" anchor="t">
            <a:normAutofit/>
          </a:bodyPr>
          <a:lstStyle/>
          <a:p>
            <a:pPr algn="l" indent="0" marL="0">
              <a:lnSpc>
                <a:spcPts val="1890"/>
              </a:lnSpc>
              <a:buNone/>
            </a:pPr>
            <a:r>
              <a:rPr lang="en-US" sz="1400" b="1" dirty="0">
                <a:solidFill>
                  <a:srgbClr val="14213D"/>
                </a:solidFill>
                <a:latin typeface="DM Sans" pitchFamily="34" charset="0"/>
                <a:ea typeface="DM Sans" pitchFamily="34" charset="-122"/>
                <a:cs typeface="DM Sans" pitchFamily="34" charset="-120"/>
              </a:rPr>
              <a:t>High volume.</a:t>
            </a:r>
            <a:r>
              <a:rPr lang="en-US" sz="1400" dirty="0">
                <a:solidFill>
                  <a:srgbClr val="14213D"/>
                </a:solidFill>
                <a:latin typeface="DM Sans" pitchFamily="34" charset="0"/>
                <a:ea typeface="DM Sans" pitchFamily="34" charset="-122"/>
                <a:cs typeface="DM Sans" pitchFamily="34" charset="-120"/>
              </a:rPr>
              <a:t> Health and Beauty and Fashion sell the most units but earn about ₹12M each.</a:t>
            </a:r>
            <a:endParaRPr lang="en-US" sz="1400" dirty="0"/>
          </a:p>
        </p:txBody>
      </p:sp>
      <p:sp>
        <p:nvSpPr>
          <p:cNvPr id="22" name="Text 20"/>
          <p:cNvSpPr/>
          <p:nvPr/>
        </p:nvSpPr>
        <p:spPr>
          <a:xfrm>
            <a:off x="7421860" y="3917801"/>
            <a:ext cx="3957340" cy="784820"/>
          </a:xfrm>
          <a:prstGeom prst="roundRect">
            <a:avLst>
              <a:gd name="adj" fmla="val 12946"/>
            </a:avLst>
          </a:prstGeom>
          <a:solidFill>
            <a:srgbClr val="14213D"/>
          </a:solidFill>
          <a:ln/>
        </p:spPr>
        <p:txBody>
          <a:bodyPr wrap="square" lIns="148042" tIns="122642" rIns="39990" bIns="97242" rtlCol="0" anchor="t">
            <a:normAutofit/>
          </a:bodyPr>
          <a:lstStyle/>
          <a:p>
            <a:pPr algn="l" indent="0" marL="0">
              <a:lnSpc>
                <a:spcPts val="1890"/>
              </a:lnSpc>
              <a:buNone/>
            </a:pPr>
            <a:r>
              <a:rPr lang="en-US" sz="1400" b="1" dirty="0">
                <a:solidFill>
                  <a:srgbClr val="F5A623"/>
                </a:solidFill>
                <a:latin typeface="DM Sans" pitchFamily="34" charset="0"/>
                <a:ea typeface="DM Sans" pitchFamily="34" charset="-122"/>
                <a:cs typeface="DM Sans" pitchFamily="34" charset="-120"/>
              </a:rPr>
              <a:t>Action.</a:t>
            </a:r>
            <a:r>
              <a:rPr lang="en-US" sz="1400" dirty="0">
                <a:solidFill>
                  <a:srgbClr val="F6F4EE"/>
                </a:solidFill>
                <a:latin typeface="DM Sans" pitchFamily="34" charset="0"/>
                <a:ea typeface="DM Sans" pitchFamily="34" charset="-122"/>
                <a:cs typeface="DM Sans" pitchFamily="34" charset="-120"/>
              </a:rPr>
              <a:t> Protect stock of high-value lines, and bundle the high-volume ones.</a:t>
            </a:r>
            <a:endParaRPr lang="en-US" sz="1400" dirty="0"/>
          </a:p>
        </p:txBody>
      </p:sp>
      <p:sp>
        <p:nvSpPr>
          <p:cNvPr id="23" name="Text 2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Amazon E-Commerce · Power BI capstone</a:t>
            </a:r>
            <a:endParaRPr lang="en-US" sz="1200" dirty="0"/>
          </a:p>
        </p:txBody>
      </p:sp>
      <p:sp>
        <p:nvSpPr>
          <p:cNvPr id="24"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SEASONALITY</a:t>
            </a:r>
            <a:endParaRPr lang="en-US" sz="1200" dirty="0"/>
          </a:p>
        </p:txBody>
      </p:sp>
      <p:sp>
        <p:nvSpPr>
          <p:cNvPr id="3" name="Text 1"/>
          <p:cNvSpPr/>
          <p:nvPr>
            <p:ph type="title"/>
          </p:nvPr>
        </p:nvSpPr>
        <p:spPr>
          <a:xfrm>
            <a:off x="812800" y="1127720"/>
            <a:ext cx="9810750"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June and September are the weakest months, 20% below January</a:t>
            </a:r>
            <a:endParaRPr lang="en-US" sz="3200" dirty="0"/>
          </a:p>
        </p:txBody>
      </p:sp>
      <p:sp>
        <p:nvSpPr>
          <p:cNvPr id="4" name="Shape 2"/>
          <p:cNvSpPr/>
          <p:nvPr/>
        </p:nvSpPr>
        <p:spPr>
          <a:xfrm>
            <a:off x="815975" y="2278955"/>
            <a:ext cx="6358880" cy="3099991"/>
          </a:xfrm>
          <a:prstGeom prst="roundRect">
            <a:avLst>
              <a:gd name="adj" fmla="val 3175"/>
            </a:avLst>
          </a:prstGeom>
          <a:solidFill>
            <a:srgbClr val="FFFFFF"/>
          </a:solidFill>
          <a:ln w="6350">
            <a:solidFill>
              <a:srgbClr val="E2DED2"/>
            </a:solidFill>
            <a:prstDash val="solid"/>
          </a:ln>
        </p:spPr>
      </p:sp>
      <p:sp>
        <p:nvSpPr>
          <p:cNvPr id="5" name="Text 3"/>
          <p:cNvSpPr/>
          <p:nvPr/>
        </p:nvSpPr>
        <p:spPr>
          <a:xfrm>
            <a:off x="971550" y="2485330"/>
            <a:ext cx="49232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10.1</a:t>
            </a:r>
            <a:endParaRPr lang="en-US" sz="1200" dirty="0"/>
          </a:p>
        </p:txBody>
      </p:sp>
      <p:sp>
        <p:nvSpPr>
          <p:cNvPr id="6" name="Shape 4"/>
          <p:cNvSpPr/>
          <p:nvPr/>
        </p:nvSpPr>
        <p:spPr>
          <a:xfrm>
            <a:off x="996950" y="2749451"/>
            <a:ext cx="441523" cy="2159000"/>
          </a:xfrm>
          <a:custGeom>
            <a:avLst/>
            <a:gdLst/>
            <a:ahLst/>
            <a:cxnLst/>
            <a:rect l="l" t="t" r="r" b="b"/>
            <a:pathLst>
              <a:path w="441523" h="2159000">
                <a:moveTo>
                  <a:pt x="38100" y="0"/>
                </a:moveTo>
                <a:lnTo>
                  <a:pt x="403423" y="0"/>
                </a:lnTo>
                <a:arcTo hR="38100" wR="38100" stAng="16200000" swAng="5400000"/>
                <a:lnTo>
                  <a:pt x="441523" y="2159000"/>
                </a:lnTo>
                <a:lnTo>
                  <a:pt x="0" y="2159000"/>
                </a:lnTo>
                <a:lnTo>
                  <a:pt x="0" y="38100"/>
                </a:lnTo>
                <a:arcTo hR="38100" wR="38100" stAng="10800000" swAng="5400000"/>
                <a:close/>
              </a:path>
            </a:pathLst>
          </a:custGeom>
          <a:solidFill>
            <a:srgbClr val="14213D"/>
          </a:solidFill>
          <a:ln/>
        </p:spPr>
      </p:sp>
      <p:sp>
        <p:nvSpPr>
          <p:cNvPr id="7" name="Text 5"/>
          <p:cNvSpPr/>
          <p:nvPr/>
        </p:nvSpPr>
        <p:spPr>
          <a:xfrm>
            <a:off x="971550" y="4959251"/>
            <a:ext cx="49232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5"/>
                </a:solidFill>
                <a:latin typeface="DM Sans" pitchFamily="34" charset="0"/>
                <a:ea typeface="DM Sans" pitchFamily="34" charset="-122"/>
                <a:cs typeface="DM Sans" pitchFamily="34" charset="-120"/>
              </a:rPr>
              <a:t>Jan</a:t>
            </a:r>
            <a:endParaRPr lang="en-US" sz="1200" dirty="0"/>
          </a:p>
        </p:txBody>
      </p:sp>
      <p:sp>
        <p:nvSpPr>
          <p:cNvPr id="8" name="Text 6"/>
          <p:cNvSpPr/>
          <p:nvPr/>
        </p:nvSpPr>
        <p:spPr>
          <a:xfrm>
            <a:off x="1476573" y="2764730"/>
            <a:ext cx="49237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8.8</a:t>
            </a:r>
            <a:endParaRPr lang="en-US" sz="1200" dirty="0"/>
          </a:p>
        </p:txBody>
      </p:sp>
      <p:sp>
        <p:nvSpPr>
          <p:cNvPr id="9" name="Shape 7"/>
          <p:cNvSpPr/>
          <p:nvPr/>
        </p:nvSpPr>
        <p:spPr>
          <a:xfrm>
            <a:off x="1501973" y="3028851"/>
            <a:ext cx="441573" cy="1879600"/>
          </a:xfrm>
          <a:custGeom>
            <a:avLst/>
            <a:gdLst/>
            <a:ahLst/>
            <a:cxnLst/>
            <a:rect l="l" t="t" r="r" b="b"/>
            <a:pathLst>
              <a:path w="441573" h="1879600">
                <a:moveTo>
                  <a:pt x="38100" y="0"/>
                </a:moveTo>
                <a:lnTo>
                  <a:pt x="403473" y="0"/>
                </a:lnTo>
                <a:arcTo hR="38100" wR="38100" stAng="16200000" swAng="5400000"/>
                <a:lnTo>
                  <a:pt x="441573" y="1879600"/>
                </a:lnTo>
                <a:lnTo>
                  <a:pt x="0" y="1879600"/>
                </a:lnTo>
                <a:lnTo>
                  <a:pt x="0" y="38100"/>
                </a:lnTo>
                <a:arcTo hR="38100" wR="38100" stAng="10800000" swAng="5400000"/>
                <a:close/>
              </a:path>
            </a:pathLst>
          </a:custGeom>
          <a:solidFill>
            <a:srgbClr val="14213D"/>
          </a:solidFill>
          <a:ln/>
        </p:spPr>
      </p:sp>
      <p:sp>
        <p:nvSpPr>
          <p:cNvPr id="10" name="Text 8"/>
          <p:cNvSpPr/>
          <p:nvPr/>
        </p:nvSpPr>
        <p:spPr>
          <a:xfrm>
            <a:off x="1476573" y="4959251"/>
            <a:ext cx="49237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5"/>
                </a:solidFill>
                <a:latin typeface="DM Sans" pitchFamily="34" charset="0"/>
                <a:ea typeface="DM Sans" pitchFamily="34" charset="-122"/>
                <a:cs typeface="DM Sans" pitchFamily="34" charset="-120"/>
              </a:rPr>
              <a:t>Feb</a:t>
            </a:r>
            <a:endParaRPr lang="en-US" sz="1200" dirty="0"/>
          </a:p>
        </p:txBody>
      </p:sp>
      <p:sp>
        <p:nvSpPr>
          <p:cNvPr id="11" name="Text 9"/>
          <p:cNvSpPr/>
          <p:nvPr/>
        </p:nvSpPr>
        <p:spPr>
          <a:xfrm>
            <a:off x="1981646" y="2529780"/>
            <a:ext cx="49232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9.9</a:t>
            </a:r>
            <a:endParaRPr lang="en-US" sz="1200" dirty="0"/>
          </a:p>
        </p:txBody>
      </p:sp>
      <p:sp>
        <p:nvSpPr>
          <p:cNvPr id="12" name="Shape 10"/>
          <p:cNvSpPr/>
          <p:nvPr/>
        </p:nvSpPr>
        <p:spPr>
          <a:xfrm>
            <a:off x="2007046" y="2793901"/>
            <a:ext cx="441523" cy="2114550"/>
          </a:xfrm>
          <a:custGeom>
            <a:avLst/>
            <a:gdLst/>
            <a:ahLst/>
            <a:cxnLst/>
            <a:rect l="l" t="t" r="r" b="b"/>
            <a:pathLst>
              <a:path w="441523" h="2114550">
                <a:moveTo>
                  <a:pt x="38100" y="0"/>
                </a:moveTo>
                <a:lnTo>
                  <a:pt x="403423" y="0"/>
                </a:lnTo>
                <a:arcTo hR="38100" wR="38100" stAng="16200000" swAng="5400000"/>
                <a:lnTo>
                  <a:pt x="441523" y="2114550"/>
                </a:lnTo>
                <a:lnTo>
                  <a:pt x="0" y="2114550"/>
                </a:lnTo>
                <a:lnTo>
                  <a:pt x="0" y="38100"/>
                </a:lnTo>
                <a:arcTo hR="38100" wR="38100" stAng="10800000" swAng="5400000"/>
                <a:close/>
              </a:path>
            </a:pathLst>
          </a:custGeom>
          <a:solidFill>
            <a:srgbClr val="14213D"/>
          </a:solidFill>
          <a:ln/>
        </p:spPr>
      </p:sp>
      <p:sp>
        <p:nvSpPr>
          <p:cNvPr id="13" name="Text 11"/>
          <p:cNvSpPr/>
          <p:nvPr/>
        </p:nvSpPr>
        <p:spPr>
          <a:xfrm>
            <a:off x="1981646" y="4959251"/>
            <a:ext cx="49232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5"/>
                </a:solidFill>
                <a:latin typeface="DM Sans" pitchFamily="34" charset="0"/>
                <a:ea typeface="DM Sans" pitchFamily="34" charset="-122"/>
                <a:cs typeface="DM Sans" pitchFamily="34" charset="-120"/>
              </a:rPr>
              <a:t>Mar</a:t>
            </a:r>
            <a:endParaRPr lang="en-US" sz="1200" dirty="0"/>
          </a:p>
        </p:txBody>
      </p:sp>
      <p:sp>
        <p:nvSpPr>
          <p:cNvPr id="14" name="Text 12"/>
          <p:cNvSpPr/>
          <p:nvPr/>
        </p:nvSpPr>
        <p:spPr>
          <a:xfrm>
            <a:off x="2486670" y="2567880"/>
            <a:ext cx="49237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9.7</a:t>
            </a:r>
            <a:endParaRPr lang="en-US" sz="1200" dirty="0"/>
          </a:p>
        </p:txBody>
      </p:sp>
      <p:sp>
        <p:nvSpPr>
          <p:cNvPr id="15" name="Shape 13"/>
          <p:cNvSpPr/>
          <p:nvPr/>
        </p:nvSpPr>
        <p:spPr>
          <a:xfrm>
            <a:off x="2512070" y="2832001"/>
            <a:ext cx="441573" cy="2076450"/>
          </a:xfrm>
          <a:custGeom>
            <a:avLst/>
            <a:gdLst/>
            <a:ahLst/>
            <a:cxnLst/>
            <a:rect l="l" t="t" r="r" b="b"/>
            <a:pathLst>
              <a:path w="441573" h="2076450">
                <a:moveTo>
                  <a:pt x="38100" y="0"/>
                </a:moveTo>
                <a:lnTo>
                  <a:pt x="403473" y="0"/>
                </a:lnTo>
                <a:arcTo hR="38100" wR="38100" stAng="16200000" swAng="5400000"/>
                <a:lnTo>
                  <a:pt x="441573" y="2076450"/>
                </a:lnTo>
                <a:lnTo>
                  <a:pt x="0" y="2076450"/>
                </a:lnTo>
                <a:lnTo>
                  <a:pt x="0" y="38100"/>
                </a:lnTo>
                <a:arcTo hR="38100" wR="38100" stAng="10800000" swAng="5400000"/>
                <a:close/>
              </a:path>
            </a:pathLst>
          </a:custGeom>
          <a:solidFill>
            <a:srgbClr val="14213D"/>
          </a:solidFill>
          <a:ln/>
        </p:spPr>
      </p:sp>
      <p:sp>
        <p:nvSpPr>
          <p:cNvPr id="16" name="Text 14"/>
          <p:cNvSpPr/>
          <p:nvPr/>
        </p:nvSpPr>
        <p:spPr>
          <a:xfrm>
            <a:off x="2486670" y="4959251"/>
            <a:ext cx="49237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5"/>
                </a:solidFill>
                <a:latin typeface="DM Sans" pitchFamily="34" charset="0"/>
                <a:ea typeface="DM Sans" pitchFamily="34" charset="-122"/>
                <a:cs typeface="DM Sans" pitchFamily="34" charset="-120"/>
              </a:rPr>
              <a:t>Apr</a:t>
            </a:r>
            <a:endParaRPr lang="en-US" sz="1200" dirty="0"/>
          </a:p>
        </p:txBody>
      </p:sp>
      <p:sp>
        <p:nvSpPr>
          <p:cNvPr id="17" name="Text 15"/>
          <p:cNvSpPr/>
          <p:nvPr/>
        </p:nvSpPr>
        <p:spPr>
          <a:xfrm>
            <a:off x="2991743" y="2529780"/>
            <a:ext cx="49232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9.9</a:t>
            </a:r>
            <a:endParaRPr lang="en-US" sz="1200" dirty="0"/>
          </a:p>
        </p:txBody>
      </p:sp>
      <p:sp>
        <p:nvSpPr>
          <p:cNvPr id="18" name="Shape 16"/>
          <p:cNvSpPr/>
          <p:nvPr/>
        </p:nvSpPr>
        <p:spPr>
          <a:xfrm>
            <a:off x="3017143" y="2793901"/>
            <a:ext cx="441523" cy="2114550"/>
          </a:xfrm>
          <a:custGeom>
            <a:avLst/>
            <a:gdLst/>
            <a:ahLst/>
            <a:cxnLst/>
            <a:rect l="l" t="t" r="r" b="b"/>
            <a:pathLst>
              <a:path w="441523" h="2114550">
                <a:moveTo>
                  <a:pt x="38100" y="0"/>
                </a:moveTo>
                <a:lnTo>
                  <a:pt x="403423" y="0"/>
                </a:lnTo>
                <a:arcTo hR="38100" wR="38100" stAng="16200000" swAng="5400000"/>
                <a:lnTo>
                  <a:pt x="441523" y="2114550"/>
                </a:lnTo>
                <a:lnTo>
                  <a:pt x="0" y="2114550"/>
                </a:lnTo>
                <a:lnTo>
                  <a:pt x="0" y="38100"/>
                </a:lnTo>
                <a:arcTo hR="38100" wR="38100" stAng="10800000" swAng="5400000"/>
                <a:close/>
              </a:path>
            </a:pathLst>
          </a:custGeom>
          <a:solidFill>
            <a:srgbClr val="14213D"/>
          </a:solidFill>
          <a:ln/>
        </p:spPr>
      </p:sp>
      <p:sp>
        <p:nvSpPr>
          <p:cNvPr id="19" name="Text 17"/>
          <p:cNvSpPr/>
          <p:nvPr/>
        </p:nvSpPr>
        <p:spPr>
          <a:xfrm>
            <a:off x="2991743" y="4959251"/>
            <a:ext cx="49232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5"/>
                </a:solidFill>
                <a:latin typeface="DM Sans" pitchFamily="34" charset="0"/>
                <a:ea typeface="DM Sans" pitchFamily="34" charset="-122"/>
                <a:cs typeface="DM Sans" pitchFamily="34" charset="-120"/>
              </a:rPr>
              <a:t>May</a:t>
            </a:r>
            <a:endParaRPr lang="en-US" sz="1200" dirty="0"/>
          </a:p>
        </p:txBody>
      </p:sp>
      <p:sp>
        <p:nvSpPr>
          <p:cNvPr id="20" name="Text 18"/>
          <p:cNvSpPr/>
          <p:nvPr/>
        </p:nvSpPr>
        <p:spPr>
          <a:xfrm>
            <a:off x="3496766" y="2910780"/>
            <a:ext cx="49237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5F00"/>
                </a:solidFill>
                <a:latin typeface="DM Sans" pitchFamily="34" charset="0"/>
                <a:ea typeface="DM Sans" pitchFamily="34" charset="-122"/>
                <a:cs typeface="DM Sans" pitchFamily="34" charset="-120"/>
              </a:rPr>
              <a:t>8.1</a:t>
            </a:r>
            <a:endParaRPr lang="en-US" sz="1200" dirty="0"/>
          </a:p>
        </p:txBody>
      </p:sp>
      <p:sp>
        <p:nvSpPr>
          <p:cNvPr id="21" name="Shape 19"/>
          <p:cNvSpPr/>
          <p:nvPr/>
        </p:nvSpPr>
        <p:spPr>
          <a:xfrm>
            <a:off x="3522166" y="3174901"/>
            <a:ext cx="441573" cy="1733550"/>
          </a:xfrm>
          <a:custGeom>
            <a:avLst/>
            <a:gdLst/>
            <a:ahLst/>
            <a:cxnLst/>
            <a:rect l="l" t="t" r="r" b="b"/>
            <a:pathLst>
              <a:path w="441573" h="1733550">
                <a:moveTo>
                  <a:pt x="38100" y="0"/>
                </a:moveTo>
                <a:lnTo>
                  <a:pt x="403473" y="0"/>
                </a:lnTo>
                <a:arcTo hR="38100" wR="38100" stAng="16200000" swAng="5400000"/>
                <a:lnTo>
                  <a:pt x="441573" y="1733550"/>
                </a:lnTo>
                <a:lnTo>
                  <a:pt x="0" y="1733550"/>
                </a:lnTo>
                <a:lnTo>
                  <a:pt x="0" y="38100"/>
                </a:lnTo>
                <a:arcTo hR="38100" wR="38100" stAng="10800000" swAng="5400000"/>
                <a:close/>
              </a:path>
            </a:pathLst>
          </a:custGeom>
          <a:solidFill>
            <a:srgbClr val="E07A00"/>
          </a:solidFill>
          <a:ln/>
        </p:spPr>
      </p:sp>
      <p:sp>
        <p:nvSpPr>
          <p:cNvPr id="22" name="Text 20"/>
          <p:cNvSpPr/>
          <p:nvPr/>
        </p:nvSpPr>
        <p:spPr>
          <a:xfrm>
            <a:off x="3496766" y="4959251"/>
            <a:ext cx="49237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Jun</a:t>
            </a:r>
            <a:endParaRPr lang="en-US" sz="1200" dirty="0"/>
          </a:p>
        </p:txBody>
      </p:sp>
      <p:sp>
        <p:nvSpPr>
          <p:cNvPr id="23" name="Text 21"/>
          <p:cNvSpPr/>
          <p:nvPr/>
        </p:nvSpPr>
        <p:spPr>
          <a:xfrm>
            <a:off x="4001839" y="2809180"/>
            <a:ext cx="49232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8.6</a:t>
            </a:r>
            <a:endParaRPr lang="en-US" sz="1200" dirty="0"/>
          </a:p>
        </p:txBody>
      </p:sp>
      <p:sp>
        <p:nvSpPr>
          <p:cNvPr id="24" name="Shape 22"/>
          <p:cNvSpPr/>
          <p:nvPr/>
        </p:nvSpPr>
        <p:spPr>
          <a:xfrm>
            <a:off x="4027239" y="3073301"/>
            <a:ext cx="441523" cy="1835150"/>
          </a:xfrm>
          <a:custGeom>
            <a:avLst/>
            <a:gdLst/>
            <a:ahLst/>
            <a:cxnLst/>
            <a:rect l="l" t="t" r="r" b="b"/>
            <a:pathLst>
              <a:path w="441523" h="1835150">
                <a:moveTo>
                  <a:pt x="38100" y="0"/>
                </a:moveTo>
                <a:lnTo>
                  <a:pt x="403423" y="0"/>
                </a:lnTo>
                <a:arcTo hR="38100" wR="38100" stAng="16200000" swAng="5400000"/>
                <a:lnTo>
                  <a:pt x="441523" y="1835150"/>
                </a:lnTo>
                <a:lnTo>
                  <a:pt x="0" y="1835150"/>
                </a:lnTo>
                <a:lnTo>
                  <a:pt x="0" y="38100"/>
                </a:lnTo>
                <a:arcTo hR="38100" wR="38100" stAng="10800000" swAng="5400000"/>
                <a:close/>
              </a:path>
            </a:pathLst>
          </a:custGeom>
          <a:solidFill>
            <a:srgbClr val="14213D"/>
          </a:solidFill>
          <a:ln/>
        </p:spPr>
      </p:sp>
      <p:sp>
        <p:nvSpPr>
          <p:cNvPr id="25" name="Text 23"/>
          <p:cNvSpPr/>
          <p:nvPr/>
        </p:nvSpPr>
        <p:spPr>
          <a:xfrm>
            <a:off x="4001839" y="4959251"/>
            <a:ext cx="49232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5"/>
                </a:solidFill>
                <a:latin typeface="DM Sans" pitchFamily="34" charset="0"/>
                <a:ea typeface="DM Sans" pitchFamily="34" charset="-122"/>
                <a:cs typeface="DM Sans" pitchFamily="34" charset="-120"/>
              </a:rPr>
              <a:t>Jul</a:t>
            </a:r>
            <a:endParaRPr lang="en-US" sz="1200" dirty="0"/>
          </a:p>
        </p:txBody>
      </p:sp>
      <p:sp>
        <p:nvSpPr>
          <p:cNvPr id="26" name="Text 24"/>
          <p:cNvSpPr/>
          <p:nvPr/>
        </p:nvSpPr>
        <p:spPr>
          <a:xfrm>
            <a:off x="4506863" y="2828230"/>
            <a:ext cx="49232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8.5</a:t>
            </a:r>
            <a:endParaRPr lang="en-US" sz="1200" dirty="0"/>
          </a:p>
        </p:txBody>
      </p:sp>
      <p:sp>
        <p:nvSpPr>
          <p:cNvPr id="27" name="Shape 25"/>
          <p:cNvSpPr/>
          <p:nvPr/>
        </p:nvSpPr>
        <p:spPr>
          <a:xfrm>
            <a:off x="4532263" y="3092351"/>
            <a:ext cx="441523" cy="1816100"/>
          </a:xfrm>
          <a:custGeom>
            <a:avLst/>
            <a:gdLst/>
            <a:ahLst/>
            <a:cxnLst/>
            <a:rect l="l" t="t" r="r" b="b"/>
            <a:pathLst>
              <a:path w="441523" h="1816100">
                <a:moveTo>
                  <a:pt x="38100" y="0"/>
                </a:moveTo>
                <a:lnTo>
                  <a:pt x="403423" y="0"/>
                </a:lnTo>
                <a:arcTo hR="38100" wR="38100" stAng="16200000" swAng="5400000"/>
                <a:lnTo>
                  <a:pt x="441523" y="1816100"/>
                </a:lnTo>
                <a:lnTo>
                  <a:pt x="0" y="1816100"/>
                </a:lnTo>
                <a:lnTo>
                  <a:pt x="0" y="38100"/>
                </a:lnTo>
                <a:arcTo hR="38100" wR="38100" stAng="10800000" swAng="5400000"/>
                <a:close/>
              </a:path>
            </a:pathLst>
          </a:custGeom>
          <a:solidFill>
            <a:srgbClr val="14213D"/>
          </a:solidFill>
          <a:ln/>
        </p:spPr>
      </p:sp>
      <p:sp>
        <p:nvSpPr>
          <p:cNvPr id="28" name="Text 26"/>
          <p:cNvSpPr/>
          <p:nvPr/>
        </p:nvSpPr>
        <p:spPr>
          <a:xfrm>
            <a:off x="4506863" y="4959251"/>
            <a:ext cx="49232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5"/>
                </a:solidFill>
                <a:latin typeface="DM Sans" pitchFamily="34" charset="0"/>
                <a:ea typeface="DM Sans" pitchFamily="34" charset="-122"/>
                <a:cs typeface="DM Sans" pitchFamily="34" charset="-120"/>
              </a:rPr>
              <a:t>Aug</a:t>
            </a:r>
            <a:endParaRPr lang="en-US" sz="1200" dirty="0"/>
          </a:p>
        </p:txBody>
      </p:sp>
      <p:sp>
        <p:nvSpPr>
          <p:cNvPr id="29" name="Text 27"/>
          <p:cNvSpPr/>
          <p:nvPr/>
        </p:nvSpPr>
        <p:spPr>
          <a:xfrm>
            <a:off x="5011886" y="2910780"/>
            <a:ext cx="49232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5F00"/>
                </a:solidFill>
                <a:latin typeface="DM Sans" pitchFamily="34" charset="0"/>
                <a:ea typeface="DM Sans" pitchFamily="34" charset="-122"/>
                <a:cs typeface="DM Sans" pitchFamily="34" charset="-120"/>
              </a:rPr>
              <a:t>8.1</a:t>
            </a:r>
            <a:endParaRPr lang="en-US" sz="1200" dirty="0"/>
          </a:p>
        </p:txBody>
      </p:sp>
      <p:sp>
        <p:nvSpPr>
          <p:cNvPr id="30" name="Shape 28"/>
          <p:cNvSpPr/>
          <p:nvPr/>
        </p:nvSpPr>
        <p:spPr>
          <a:xfrm>
            <a:off x="5037286" y="3174901"/>
            <a:ext cx="441523" cy="1733550"/>
          </a:xfrm>
          <a:custGeom>
            <a:avLst/>
            <a:gdLst/>
            <a:ahLst/>
            <a:cxnLst/>
            <a:rect l="l" t="t" r="r" b="b"/>
            <a:pathLst>
              <a:path w="441523" h="1733550">
                <a:moveTo>
                  <a:pt x="38100" y="0"/>
                </a:moveTo>
                <a:lnTo>
                  <a:pt x="403423" y="0"/>
                </a:lnTo>
                <a:arcTo hR="38100" wR="38100" stAng="16200000" swAng="5400000"/>
                <a:lnTo>
                  <a:pt x="441523" y="1733550"/>
                </a:lnTo>
                <a:lnTo>
                  <a:pt x="0" y="1733550"/>
                </a:lnTo>
                <a:lnTo>
                  <a:pt x="0" y="38100"/>
                </a:lnTo>
                <a:arcTo hR="38100" wR="38100" stAng="10800000" swAng="5400000"/>
                <a:close/>
              </a:path>
            </a:pathLst>
          </a:custGeom>
          <a:solidFill>
            <a:srgbClr val="E07A00"/>
          </a:solidFill>
          <a:ln/>
        </p:spPr>
      </p:sp>
      <p:sp>
        <p:nvSpPr>
          <p:cNvPr id="31" name="Text 29"/>
          <p:cNvSpPr/>
          <p:nvPr/>
        </p:nvSpPr>
        <p:spPr>
          <a:xfrm>
            <a:off x="5011886" y="4959251"/>
            <a:ext cx="49232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Sep</a:t>
            </a:r>
            <a:endParaRPr lang="en-US" sz="1200" dirty="0"/>
          </a:p>
        </p:txBody>
      </p:sp>
      <p:sp>
        <p:nvSpPr>
          <p:cNvPr id="32" name="Text 30"/>
          <p:cNvSpPr/>
          <p:nvPr/>
        </p:nvSpPr>
        <p:spPr>
          <a:xfrm>
            <a:off x="5516910" y="2783780"/>
            <a:ext cx="49232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8.7</a:t>
            </a:r>
            <a:endParaRPr lang="en-US" sz="1200" dirty="0"/>
          </a:p>
        </p:txBody>
      </p:sp>
      <p:sp>
        <p:nvSpPr>
          <p:cNvPr id="33" name="Shape 31"/>
          <p:cNvSpPr/>
          <p:nvPr/>
        </p:nvSpPr>
        <p:spPr>
          <a:xfrm>
            <a:off x="5542310" y="3047901"/>
            <a:ext cx="441523" cy="1860550"/>
          </a:xfrm>
          <a:custGeom>
            <a:avLst/>
            <a:gdLst/>
            <a:ahLst/>
            <a:cxnLst/>
            <a:rect l="l" t="t" r="r" b="b"/>
            <a:pathLst>
              <a:path w="441523" h="1860550">
                <a:moveTo>
                  <a:pt x="38100" y="0"/>
                </a:moveTo>
                <a:lnTo>
                  <a:pt x="403423" y="0"/>
                </a:lnTo>
                <a:arcTo hR="38100" wR="38100" stAng="16200000" swAng="5400000"/>
                <a:lnTo>
                  <a:pt x="441523" y="1860550"/>
                </a:lnTo>
                <a:lnTo>
                  <a:pt x="0" y="1860550"/>
                </a:lnTo>
                <a:lnTo>
                  <a:pt x="0" y="38100"/>
                </a:lnTo>
                <a:arcTo hR="38100" wR="38100" stAng="10800000" swAng="5400000"/>
                <a:close/>
              </a:path>
            </a:pathLst>
          </a:custGeom>
          <a:solidFill>
            <a:srgbClr val="14213D"/>
          </a:solidFill>
          <a:ln/>
        </p:spPr>
      </p:sp>
      <p:sp>
        <p:nvSpPr>
          <p:cNvPr id="34" name="Text 32"/>
          <p:cNvSpPr/>
          <p:nvPr/>
        </p:nvSpPr>
        <p:spPr>
          <a:xfrm>
            <a:off x="5516910" y="4959251"/>
            <a:ext cx="49232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5"/>
                </a:solidFill>
                <a:latin typeface="DM Sans" pitchFamily="34" charset="0"/>
                <a:ea typeface="DM Sans" pitchFamily="34" charset="-122"/>
                <a:cs typeface="DM Sans" pitchFamily="34" charset="-120"/>
              </a:rPr>
              <a:t>Oct</a:t>
            </a:r>
            <a:endParaRPr lang="en-US" sz="1200" dirty="0"/>
          </a:p>
        </p:txBody>
      </p:sp>
      <p:sp>
        <p:nvSpPr>
          <p:cNvPr id="35" name="Text 33"/>
          <p:cNvSpPr/>
          <p:nvPr/>
        </p:nvSpPr>
        <p:spPr>
          <a:xfrm>
            <a:off x="6021933" y="2872680"/>
            <a:ext cx="49232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8.3</a:t>
            </a:r>
            <a:endParaRPr lang="en-US" sz="1200" dirty="0"/>
          </a:p>
        </p:txBody>
      </p:sp>
      <p:sp>
        <p:nvSpPr>
          <p:cNvPr id="36" name="Shape 34"/>
          <p:cNvSpPr/>
          <p:nvPr/>
        </p:nvSpPr>
        <p:spPr>
          <a:xfrm>
            <a:off x="6047333" y="3136801"/>
            <a:ext cx="441523" cy="1771650"/>
          </a:xfrm>
          <a:custGeom>
            <a:avLst/>
            <a:gdLst/>
            <a:ahLst/>
            <a:cxnLst/>
            <a:rect l="l" t="t" r="r" b="b"/>
            <a:pathLst>
              <a:path w="441523" h="1771650">
                <a:moveTo>
                  <a:pt x="38100" y="0"/>
                </a:moveTo>
                <a:lnTo>
                  <a:pt x="403423" y="0"/>
                </a:lnTo>
                <a:arcTo hR="38100" wR="38100" stAng="16200000" swAng="5400000"/>
                <a:lnTo>
                  <a:pt x="441523" y="1771650"/>
                </a:lnTo>
                <a:lnTo>
                  <a:pt x="0" y="1771650"/>
                </a:lnTo>
                <a:lnTo>
                  <a:pt x="0" y="38100"/>
                </a:lnTo>
                <a:arcTo hR="38100" wR="38100" stAng="10800000" swAng="5400000"/>
                <a:close/>
              </a:path>
            </a:pathLst>
          </a:custGeom>
          <a:solidFill>
            <a:srgbClr val="14213D"/>
          </a:solidFill>
          <a:ln/>
        </p:spPr>
      </p:sp>
      <p:sp>
        <p:nvSpPr>
          <p:cNvPr id="37" name="Text 35"/>
          <p:cNvSpPr/>
          <p:nvPr/>
        </p:nvSpPr>
        <p:spPr>
          <a:xfrm>
            <a:off x="6021933" y="4959251"/>
            <a:ext cx="49232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5"/>
                </a:solidFill>
                <a:latin typeface="DM Sans" pitchFamily="34" charset="0"/>
                <a:ea typeface="DM Sans" pitchFamily="34" charset="-122"/>
                <a:cs typeface="DM Sans" pitchFamily="34" charset="-120"/>
              </a:rPr>
              <a:t>Nov</a:t>
            </a:r>
            <a:endParaRPr lang="en-US" sz="1200" dirty="0"/>
          </a:p>
        </p:txBody>
      </p:sp>
      <p:sp>
        <p:nvSpPr>
          <p:cNvPr id="38" name="Text 36"/>
          <p:cNvSpPr/>
          <p:nvPr/>
        </p:nvSpPr>
        <p:spPr>
          <a:xfrm>
            <a:off x="6526957" y="2809180"/>
            <a:ext cx="49232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8.6</a:t>
            </a:r>
            <a:endParaRPr lang="en-US" sz="1200" dirty="0"/>
          </a:p>
        </p:txBody>
      </p:sp>
      <p:sp>
        <p:nvSpPr>
          <p:cNvPr id="39" name="Shape 37"/>
          <p:cNvSpPr/>
          <p:nvPr/>
        </p:nvSpPr>
        <p:spPr>
          <a:xfrm>
            <a:off x="6552357" y="3073301"/>
            <a:ext cx="441523" cy="1835150"/>
          </a:xfrm>
          <a:custGeom>
            <a:avLst/>
            <a:gdLst/>
            <a:ahLst/>
            <a:cxnLst/>
            <a:rect l="l" t="t" r="r" b="b"/>
            <a:pathLst>
              <a:path w="441523" h="1835150">
                <a:moveTo>
                  <a:pt x="38100" y="0"/>
                </a:moveTo>
                <a:lnTo>
                  <a:pt x="403423" y="0"/>
                </a:lnTo>
                <a:arcTo hR="38100" wR="38100" stAng="16200000" swAng="5400000"/>
                <a:lnTo>
                  <a:pt x="441523" y="1835150"/>
                </a:lnTo>
                <a:lnTo>
                  <a:pt x="0" y="1835150"/>
                </a:lnTo>
                <a:lnTo>
                  <a:pt x="0" y="38100"/>
                </a:lnTo>
                <a:arcTo hR="38100" wR="38100" stAng="10800000" swAng="5400000"/>
                <a:close/>
              </a:path>
            </a:pathLst>
          </a:custGeom>
          <a:solidFill>
            <a:srgbClr val="14213D"/>
          </a:solidFill>
          <a:ln/>
        </p:spPr>
      </p:sp>
      <p:sp>
        <p:nvSpPr>
          <p:cNvPr id="40" name="Text 38"/>
          <p:cNvSpPr/>
          <p:nvPr/>
        </p:nvSpPr>
        <p:spPr>
          <a:xfrm>
            <a:off x="6526957" y="4959251"/>
            <a:ext cx="49232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5"/>
                </a:solidFill>
                <a:latin typeface="DM Sans" pitchFamily="34" charset="0"/>
                <a:ea typeface="DM Sans" pitchFamily="34" charset="-122"/>
                <a:cs typeface="DM Sans" pitchFamily="34" charset="-120"/>
              </a:rPr>
              <a:t>Dec</a:t>
            </a:r>
            <a:endParaRPr lang="en-US" sz="1200" dirty="0"/>
          </a:p>
        </p:txBody>
      </p:sp>
      <p:sp>
        <p:nvSpPr>
          <p:cNvPr id="41" name="Text 39"/>
          <p:cNvSpPr/>
          <p:nvPr/>
        </p:nvSpPr>
        <p:spPr>
          <a:xfrm>
            <a:off x="7384405" y="2515195"/>
            <a:ext cx="3991620" cy="791170"/>
          </a:xfrm>
          <a:prstGeom prst="roundRect">
            <a:avLst>
              <a:gd name="adj" fmla="val 12440"/>
            </a:avLst>
          </a:prstGeom>
          <a:solidFill>
            <a:srgbClr val="FFFFFF"/>
          </a:solidFill>
          <a:ln w="6350">
            <a:solidFill>
              <a:srgbClr val="E2DED2"/>
            </a:solidFill>
            <a:prstDash val="solid"/>
          </a:ln>
        </p:spPr>
        <p:txBody>
          <a:bodyPr wrap="square" lIns="152147" tIns="126747" rIns="43257" bIns="101347" rtlCol="0" anchor="t">
            <a:normAutofit/>
          </a:bodyPr>
          <a:lstStyle/>
          <a:p>
            <a:pPr algn="l" indent="0" marL="0">
              <a:lnSpc>
                <a:spcPts val="1890"/>
              </a:lnSpc>
              <a:buNone/>
            </a:pPr>
            <a:r>
              <a:rPr lang="en-US" sz="1400" b="1" dirty="0">
                <a:solidFill>
                  <a:srgbClr val="14213D"/>
                </a:solidFill>
                <a:latin typeface="DM Sans" pitchFamily="34" charset="0"/>
                <a:ea typeface="DM Sans" pitchFamily="34" charset="-122"/>
                <a:cs typeface="DM Sans" pitchFamily="34" charset="-120"/>
              </a:rPr>
              <a:t>Strongest.</a:t>
            </a:r>
            <a:r>
              <a:rPr lang="en-US" sz="1400" dirty="0">
                <a:solidFill>
                  <a:srgbClr val="14213D"/>
                </a:solidFill>
                <a:latin typeface="DM Sans" pitchFamily="34" charset="0"/>
                <a:ea typeface="DM Sans" pitchFamily="34" charset="-122"/>
                <a:cs typeface="DM Sans" pitchFamily="34" charset="-120"/>
              </a:rPr>
              <a:t> January at ₹10.1M, in line with post-holiday buying.</a:t>
            </a:r>
            <a:endParaRPr lang="en-US" sz="1400" dirty="0"/>
          </a:p>
        </p:txBody>
      </p:sp>
      <p:sp>
        <p:nvSpPr>
          <p:cNvPr id="42" name="Text 40"/>
          <p:cNvSpPr/>
          <p:nvPr/>
        </p:nvSpPr>
        <p:spPr>
          <a:xfrm>
            <a:off x="7384405" y="3439716"/>
            <a:ext cx="3991620" cy="791170"/>
          </a:xfrm>
          <a:prstGeom prst="roundRect">
            <a:avLst>
              <a:gd name="adj" fmla="val 12440"/>
            </a:avLst>
          </a:prstGeom>
          <a:solidFill>
            <a:srgbClr val="FFFFFF"/>
          </a:solidFill>
          <a:ln w="6350">
            <a:solidFill>
              <a:srgbClr val="E2DED2"/>
            </a:solidFill>
            <a:prstDash val="solid"/>
          </a:ln>
        </p:spPr>
        <p:txBody>
          <a:bodyPr wrap="square" lIns="152147" tIns="126747" rIns="43257" bIns="101347" rtlCol="0" anchor="t">
            <a:normAutofit/>
          </a:bodyPr>
          <a:lstStyle/>
          <a:p>
            <a:pPr algn="l" indent="0" marL="0">
              <a:lnSpc>
                <a:spcPts val="1890"/>
              </a:lnSpc>
              <a:buNone/>
            </a:pPr>
            <a:r>
              <a:rPr lang="en-US" sz="1400" b="1" dirty="0">
                <a:solidFill>
                  <a:srgbClr val="14213D"/>
                </a:solidFill>
                <a:latin typeface="DM Sans" pitchFamily="34" charset="0"/>
                <a:ea typeface="DM Sans" pitchFamily="34" charset="-122"/>
                <a:cs typeface="DM Sans" pitchFamily="34" charset="-120"/>
              </a:rPr>
              <a:t>Weakest.</a:t>
            </a:r>
            <a:r>
              <a:rPr lang="en-US" sz="1400" dirty="0">
                <a:solidFill>
                  <a:srgbClr val="14213D"/>
                </a:solidFill>
                <a:latin typeface="DM Sans" pitchFamily="34" charset="0"/>
                <a:ea typeface="DM Sans" pitchFamily="34" charset="-122"/>
                <a:cs typeface="DM Sans" pitchFamily="34" charset="-120"/>
              </a:rPr>
              <a:t> June and September at ₹8.1M each, with no big shopping occasion.</a:t>
            </a:r>
            <a:endParaRPr lang="en-US" sz="1400" dirty="0"/>
          </a:p>
        </p:txBody>
      </p:sp>
      <p:sp>
        <p:nvSpPr>
          <p:cNvPr id="43" name="Text 41"/>
          <p:cNvSpPr/>
          <p:nvPr/>
        </p:nvSpPr>
        <p:spPr>
          <a:xfrm>
            <a:off x="7381230" y="4361061"/>
            <a:ext cx="3997970" cy="784820"/>
          </a:xfrm>
          <a:prstGeom prst="roundRect">
            <a:avLst>
              <a:gd name="adj" fmla="val 12946"/>
            </a:avLst>
          </a:prstGeom>
          <a:solidFill>
            <a:srgbClr val="14213D"/>
          </a:solidFill>
          <a:ln/>
        </p:spPr>
        <p:txBody>
          <a:bodyPr wrap="square" lIns="148042" tIns="122642" rIns="38771" bIns="97242" rtlCol="0" anchor="t">
            <a:normAutofit/>
          </a:bodyPr>
          <a:lstStyle/>
          <a:p>
            <a:pPr algn="l" indent="0" marL="0">
              <a:lnSpc>
                <a:spcPts val="1890"/>
              </a:lnSpc>
              <a:buNone/>
            </a:pPr>
            <a:r>
              <a:rPr lang="en-US" sz="1400" b="1" dirty="0">
                <a:solidFill>
                  <a:srgbClr val="F5A623"/>
                </a:solidFill>
                <a:latin typeface="DM Sans" pitchFamily="34" charset="0"/>
                <a:ea typeface="DM Sans" pitchFamily="34" charset="-122"/>
                <a:cs typeface="DM Sans" pitchFamily="34" charset="-120"/>
              </a:rPr>
              <a:t>Action.</a:t>
            </a:r>
            <a:r>
              <a:rPr lang="en-US" sz="1400" dirty="0">
                <a:solidFill>
                  <a:srgbClr val="F6F4EE"/>
                </a:solidFill>
                <a:latin typeface="DM Sans" pitchFamily="34" charset="0"/>
                <a:ea typeface="DM Sans" pitchFamily="34" charset="-122"/>
                <a:cs typeface="DM Sans" pitchFamily="34" charset="-120"/>
              </a:rPr>
              <a:t> Run a mid-year sale in June and a back-to-season sale in September.</a:t>
            </a:r>
            <a:endParaRPr lang="en-US" sz="1400" dirty="0"/>
          </a:p>
        </p:txBody>
      </p:sp>
      <p:sp>
        <p:nvSpPr>
          <p:cNvPr id="44" name="Text 4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Revenue in ₹M, all years combined</a:t>
            </a:r>
            <a:endParaRPr lang="en-US" sz="1200" dirty="0"/>
          </a:p>
        </p:txBody>
      </p:sp>
      <p:sp>
        <p:nvSpPr>
          <p:cNvPr id="45" name="Text 4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REVENUE BY LOCATION</a:t>
            </a:r>
            <a:endParaRPr lang="en-US" sz="1200" dirty="0"/>
          </a:p>
        </p:txBody>
      </p:sp>
      <p:sp>
        <p:nvSpPr>
          <p:cNvPr id="3" name="Text 1"/>
          <p:cNvSpPr/>
          <p:nvPr>
            <p:ph type="title"/>
          </p:nvPr>
        </p:nvSpPr>
        <p:spPr>
          <a:xfrm>
            <a:off x="812800" y="1127720"/>
            <a:ext cx="9810750"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Four locations bring in about ₹80M of ₹107M</a:t>
            </a:r>
            <a:endParaRPr lang="en-US" sz="3200" dirty="0"/>
          </a:p>
        </p:txBody>
      </p:sp>
      <p:sp>
        <p:nvSpPr>
          <p:cNvPr id="4" name="Shape 2"/>
          <p:cNvSpPr/>
          <p:nvPr/>
        </p:nvSpPr>
        <p:spPr>
          <a:xfrm>
            <a:off x="815975" y="1831925"/>
            <a:ext cx="6399510" cy="2867521"/>
          </a:xfrm>
          <a:prstGeom prst="roundRect">
            <a:avLst>
              <a:gd name="adj" fmla="val 3432"/>
            </a:avLst>
          </a:prstGeom>
          <a:solidFill>
            <a:srgbClr val="FFFFFF"/>
          </a:solidFill>
          <a:ln w="6350">
            <a:solidFill>
              <a:srgbClr val="E2DED2"/>
            </a:solidFill>
            <a:prstDash val="solid"/>
          </a:ln>
        </p:spPr>
      </p:sp>
      <p:sp>
        <p:nvSpPr>
          <p:cNvPr id="5" name="Text 3"/>
          <p:cNvSpPr/>
          <p:nvPr/>
        </p:nvSpPr>
        <p:spPr>
          <a:xfrm>
            <a:off x="1047750" y="2075111"/>
            <a:ext cx="1511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Greater Accra</a:t>
            </a:r>
            <a:endParaRPr lang="en-US" sz="1300" dirty="0"/>
          </a:p>
        </p:txBody>
      </p:sp>
      <p:sp>
        <p:nvSpPr>
          <p:cNvPr id="6" name="Shape 4"/>
          <p:cNvSpPr/>
          <p:nvPr/>
        </p:nvSpPr>
        <p:spPr>
          <a:xfrm>
            <a:off x="2635250" y="2063700"/>
            <a:ext cx="3175000" cy="254000"/>
          </a:xfrm>
          <a:custGeom>
            <a:avLst/>
            <a:gdLst/>
            <a:ahLst/>
            <a:cxnLst/>
            <a:rect l="l" t="t" r="r" b="b"/>
            <a:pathLst>
              <a:path w="3175000" h="254000">
                <a:moveTo>
                  <a:pt x="0" y="0"/>
                </a:moveTo>
                <a:lnTo>
                  <a:pt x="3124200" y="0"/>
                </a:lnTo>
                <a:arcTo hR="50800" wR="50800" stAng="16200000" swAng="5400000"/>
                <a:lnTo>
                  <a:pt x="3175000" y="203200"/>
                </a:lnTo>
                <a:arcTo hR="50800" wR="50800" stAng="0" swAng="5400000"/>
                <a:lnTo>
                  <a:pt x="0" y="254000"/>
                </a:lnTo>
                <a:lnTo>
                  <a:pt x="0" y="0"/>
                </a:lnTo>
                <a:close/>
              </a:path>
            </a:pathLst>
          </a:custGeom>
          <a:solidFill>
            <a:srgbClr val="E07A00"/>
          </a:solidFill>
          <a:ln/>
        </p:spPr>
      </p:sp>
      <p:sp>
        <p:nvSpPr>
          <p:cNvPr id="7" name="Text 5"/>
          <p:cNvSpPr/>
          <p:nvPr/>
        </p:nvSpPr>
        <p:spPr>
          <a:xfrm>
            <a:off x="5937250" y="2075111"/>
            <a:ext cx="622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₹27M</a:t>
            </a:r>
            <a:endParaRPr lang="en-US" sz="1300" dirty="0"/>
          </a:p>
        </p:txBody>
      </p:sp>
      <p:sp>
        <p:nvSpPr>
          <p:cNvPr id="8" name="Text 6"/>
          <p:cNvSpPr/>
          <p:nvPr/>
        </p:nvSpPr>
        <p:spPr>
          <a:xfrm>
            <a:off x="1047750" y="2481511"/>
            <a:ext cx="1511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Ashanti</a:t>
            </a:r>
            <a:endParaRPr lang="en-US" sz="1300" dirty="0"/>
          </a:p>
        </p:txBody>
      </p:sp>
      <p:sp>
        <p:nvSpPr>
          <p:cNvPr id="9" name="Shape 7"/>
          <p:cNvSpPr/>
          <p:nvPr/>
        </p:nvSpPr>
        <p:spPr>
          <a:xfrm>
            <a:off x="2635250" y="2470100"/>
            <a:ext cx="2705100" cy="254000"/>
          </a:xfrm>
          <a:custGeom>
            <a:avLst/>
            <a:gdLst/>
            <a:ahLst/>
            <a:cxnLst/>
            <a:rect l="l" t="t" r="r" b="b"/>
            <a:pathLst>
              <a:path w="2705100" h="254000">
                <a:moveTo>
                  <a:pt x="0" y="0"/>
                </a:moveTo>
                <a:lnTo>
                  <a:pt x="2654300" y="0"/>
                </a:lnTo>
                <a:arcTo hR="50800" wR="50800" stAng="16200000" swAng="5400000"/>
                <a:lnTo>
                  <a:pt x="2705100" y="203200"/>
                </a:lnTo>
                <a:arcTo hR="50800" wR="50800" stAng="0" swAng="5400000"/>
                <a:lnTo>
                  <a:pt x="0" y="254000"/>
                </a:lnTo>
                <a:lnTo>
                  <a:pt x="0" y="0"/>
                </a:lnTo>
                <a:close/>
              </a:path>
            </a:pathLst>
          </a:custGeom>
          <a:solidFill>
            <a:srgbClr val="E07A00"/>
          </a:solidFill>
          <a:ln/>
        </p:spPr>
      </p:sp>
      <p:sp>
        <p:nvSpPr>
          <p:cNvPr id="10" name="Text 8"/>
          <p:cNvSpPr/>
          <p:nvPr/>
        </p:nvSpPr>
        <p:spPr>
          <a:xfrm>
            <a:off x="5467350" y="2481511"/>
            <a:ext cx="622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₹23M</a:t>
            </a:r>
            <a:endParaRPr lang="en-US" sz="1300" dirty="0"/>
          </a:p>
        </p:txBody>
      </p:sp>
      <p:sp>
        <p:nvSpPr>
          <p:cNvPr id="11" name="Text 9"/>
          <p:cNvSpPr/>
          <p:nvPr/>
        </p:nvSpPr>
        <p:spPr>
          <a:xfrm>
            <a:off x="1047750" y="2887911"/>
            <a:ext cx="1511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Western</a:t>
            </a:r>
            <a:endParaRPr lang="en-US" sz="1300" dirty="0"/>
          </a:p>
        </p:txBody>
      </p:sp>
      <p:sp>
        <p:nvSpPr>
          <p:cNvPr id="12" name="Shape 10"/>
          <p:cNvSpPr/>
          <p:nvPr/>
        </p:nvSpPr>
        <p:spPr>
          <a:xfrm>
            <a:off x="2635250" y="2876500"/>
            <a:ext cx="2000250" cy="254000"/>
          </a:xfrm>
          <a:custGeom>
            <a:avLst/>
            <a:gdLst/>
            <a:ahLst/>
            <a:cxnLst/>
            <a:rect l="l" t="t" r="r" b="b"/>
            <a:pathLst>
              <a:path w="2000250" h="254000">
                <a:moveTo>
                  <a:pt x="0" y="0"/>
                </a:moveTo>
                <a:lnTo>
                  <a:pt x="1949450" y="0"/>
                </a:lnTo>
                <a:arcTo hR="50800" wR="50800" stAng="16200000" swAng="5400000"/>
                <a:lnTo>
                  <a:pt x="2000250" y="203200"/>
                </a:lnTo>
                <a:arcTo hR="50800" wR="50800" stAng="0" swAng="5400000"/>
                <a:lnTo>
                  <a:pt x="0" y="254000"/>
                </a:lnTo>
                <a:lnTo>
                  <a:pt x="0" y="0"/>
                </a:lnTo>
                <a:close/>
              </a:path>
            </a:pathLst>
          </a:custGeom>
          <a:solidFill>
            <a:srgbClr val="E07A00"/>
          </a:solidFill>
          <a:ln/>
        </p:spPr>
      </p:sp>
      <p:sp>
        <p:nvSpPr>
          <p:cNvPr id="13" name="Text 11"/>
          <p:cNvSpPr/>
          <p:nvPr/>
        </p:nvSpPr>
        <p:spPr>
          <a:xfrm>
            <a:off x="4762500" y="2887911"/>
            <a:ext cx="622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₹17M</a:t>
            </a:r>
            <a:endParaRPr lang="en-US" sz="1300" dirty="0"/>
          </a:p>
        </p:txBody>
      </p:sp>
      <p:sp>
        <p:nvSpPr>
          <p:cNvPr id="14" name="Text 12"/>
          <p:cNvSpPr/>
          <p:nvPr/>
        </p:nvSpPr>
        <p:spPr>
          <a:xfrm>
            <a:off x="1047750" y="3294311"/>
            <a:ext cx="1511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Weija</a:t>
            </a:r>
            <a:endParaRPr lang="en-US" sz="1300" dirty="0"/>
          </a:p>
        </p:txBody>
      </p:sp>
      <p:sp>
        <p:nvSpPr>
          <p:cNvPr id="15" name="Shape 13"/>
          <p:cNvSpPr/>
          <p:nvPr/>
        </p:nvSpPr>
        <p:spPr>
          <a:xfrm>
            <a:off x="2635250" y="3282900"/>
            <a:ext cx="1530350" cy="254000"/>
          </a:xfrm>
          <a:custGeom>
            <a:avLst/>
            <a:gdLst/>
            <a:ahLst/>
            <a:cxnLst/>
            <a:rect l="l" t="t" r="r" b="b"/>
            <a:pathLst>
              <a:path w="1530350" h="254000">
                <a:moveTo>
                  <a:pt x="0" y="0"/>
                </a:moveTo>
                <a:lnTo>
                  <a:pt x="1479550" y="0"/>
                </a:lnTo>
                <a:arcTo hR="50800" wR="50800" stAng="16200000" swAng="5400000"/>
                <a:lnTo>
                  <a:pt x="1530350" y="203200"/>
                </a:lnTo>
                <a:arcTo hR="50800" wR="50800" stAng="0" swAng="5400000"/>
                <a:lnTo>
                  <a:pt x="0" y="254000"/>
                </a:lnTo>
                <a:lnTo>
                  <a:pt x="0" y="0"/>
                </a:lnTo>
                <a:close/>
              </a:path>
            </a:pathLst>
          </a:custGeom>
          <a:solidFill>
            <a:srgbClr val="E07A00"/>
          </a:solidFill>
          <a:ln/>
        </p:spPr>
      </p:sp>
      <p:sp>
        <p:nvSpPr>
          <p:cNvPr id="16" name="Text 14"/>
          <p:cNvSpPr/>
          <p:nvPr/>
        </p:nvSpPr>
        <p:spPr>
          <a:xfrm>
            <a:off x="4292600" y="3294311"/>
            <a:ext cx="622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₹13M</a:t>
            </a:r>
            <a:endParaRPr lang="en-US" sz="1300" dirty="0"/>
          </a:p>
        </p:txBody>
      </p:sp>
      <p:sp>
        <p:nvSpPr>
          <p:cNvPr id="17" name="Text 15"/>
          <p:cNvSpPr/>
          <p:nvPr/>
        </p:nvSpPr>
        <p:spPr>
          <a:xfrm>
            <a:off x="1047750" y="3700711"/>
            <a:ext cx="1511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Upper West</a:t>
            </a:r>
            <a:endParaRPr lang="en-US" sz="1300" dirty="0"/>
          </a:p>
        </p:txBody>
      </p:sp>
      <p:sp>
        <p:nvSpPr>
          <p:cNvPr id="18" name="Shape 16"/>
          <p:cNvSpPr/>
          <p:nvPr/>
        </p:nvSpPr>
        <p:spPr>
          <a:xfrm>
            <a:off x="2635250" y="3689300"/>
            <a:ext cx="590550" cy="254000"/>
          </a:xfrm>
          <a:custGeom>
            <a:avLst/>
            <a:gdLst/>
            <a:ahLst/>
            <a:cxnLst/>
            <a:rect l="l" t="t" r="r" b="b"/>
            <a:pathLst>
              <a:path w="590550" h="254000">
                <a:moveTo>
                  <a:pt x="0" y="0"/>
                </a:moveTo>
                <a:lnTo>
                  <a:pt x="539750" y="0"/>
                </a:lnTo>
                <a:arcTo hR="50800" wR="50800" stAng="16200000" swAng="5400000"/>
                <a:lnTo>
                  <a:pt x="590550" y="203200"/>
                </a:lnTo>
                <a:arcTo hR="50800" wR="50800" stAng="0" swAng="5400000"/>
                <a:lnTo>
                  <a:pt x="0" y="254000"/>
                </a:lnTo>
                <a:lnTo>
                  <a:pt x="0" y="0"/>
                </a:lnTo>
                <a:close/>
              </a:path>
            </a:pathLst>
          </a:custGeom>
          <a:solidFill>
            <a:srgbClr val="14213D"/>
          </a:solidFill>
          <a:ln/>
        </p:spPr>
      </p:sp>
      <p:sp>
        <p:nvSpPr>
          <p:cNvPr id="19" name="Text 17"/>
          <p:cNvSpPr/>
          <p:nvPr/>
        </p:nvSpPr>
        <p:spPr>
          <a:xfrm>
            <a:off x="3352800" y="3700711"/>
            <a:ext cx="622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₹5M</a:t>
            </a:r>
            <a:endParaRPr lang="en-US" sz="1300" dirty="0"/>
          </a:p>
        </p:txBody>
      </p:sp>
      <p:sp>
        <p:nvSpPr>
          <p:cNvPr id="20" name="Text 18"/>
          <p:cNvSpPr/>
          <p:nvPr/>
        </p:nvSpPr>
        <p:spPr>
          <a:xfrm>
            <a:off x="1047750" y="4107111"/>
            <a:ext cx="1511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Volta</a:t>
            </a:r>
            <a:endParaRPr lang="en-US" sz="1300" dirty="0"/>
          </a:p>
        </p:txBody>
      </p:sp>
      <p:sp>
        <p:nvSpPr>
          <p:cNvPr id="21" name="Shape 19"/>
          <p:cNvSpPr/>
          <p:nvPr/>
        </p:nvSpPr>
        <p:spPr>
          <a:xfrm>
            <a:off x="2635250" y="4095700"/>
            <a:ext cx="590550" cy="254000"/>
          </a:xfrm>
          <a:custGeom>
            <a:avLst/>
            <a:gdLst/>
            <a:ahLst/>
            <a:cxnLst/>
            <a:rect l="l" t="t" r="r" b="b"/>
            <a:pathLst>
              <a:path w="590550" h="254000">
                <a:moveTo>
                  <a:pt x="0" y="0"/>
                </a:moveTo>
                <a:lnTo>
                  <a:pt x="539750" y="0"/>
                </a:lnTo>
                <a:arcTo hR="50800" wR="50800" stAng="16200000" swAng="5400000"/>
                <a:lnTo>
                  <a:pt x="590550" y="203200"/>
                </a:lnTo>
                <a:arcTo hR="50800" wR="50800" stAng="0" swAng="5400000"/>
                <a:lnTo>
                  <a:pt x="0" y="254000"/>
                </a:lnTo>
                <a:lnTo>
                  <a:pt x="0" y="0"/>
                </a:lnTo>
                <a:close/>
              </a:path>
            </a:pathLst>
          </a:custGeom>
          <a:solidFill>
            <a:srgbClr val="14213D"/>
          </a:solidFill>
          <a:ln/>
        </p:spPr>
      </p:sp>
      <p:sp>
        <p:nvSpPr>
          <p:cNvPr id="22" name="Text 20"/>
          <p:cNvSpPr/>
          <p:nvPr/>
        </p:nvSpPr>
        <p:spPr>
          <a:xfrm>
            <a:off x="3352800" y="4107111"/>
            <a:ext cx="622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₹5M</a:t>
            </a:r>
            <a:endParaRPr lang="en-US" sz="1300" dirty="0"/>
          </a:p>
        </p:txBody>
      </p:sp>
      <p:sp>
        <p:nvSpPr>
          <p:cNvPr id="23" name="Text 21"/>
          <p:cNvSpPr/>
          <p:nvPr/>
        </p:nvSpPr>
        <p:spPr>
          <a:xfrm>
            <a:off x="7425035" y="1831925"/>
            <a:ext cx="3950990" cy="1031180"/>
          </a:xfrm>
          <a:prstGeom prst="roundRect">
            <a:avLst>
              <a:gd name="adj" fmla="val 9545"/>
            </a:avLst>
          </a:prstGeom>
          <a:solidFill>
            <a:srgbClr val="FFFFFF"/>
          </a:solidFill>
          <a:ln w="6350">
            <a:solidFill>
              <a:srgbClr val="E2DED2"/>
            </a:solidFill>
            <a:prstDash val="solid"/>
          </a:ln>
        </p:spPr>
        <p:txBody>
          <a:bodyPr wrap="square" lIns="152147" tIns="126747" rIns="44476" bIns="101347" rtlCol="0" anchor="t">
            <a:normAutofit/>
          </a:bodyPr>
          <a:lstStyle/>
          <a:p>
            <a:pPr algn="l" indent="0" marL="0">
              <a:lnSpc>
                <a:spcPts val="1890"/>
              </a:lnSpc>
              <a:buNone/>
            </a:pPr>
            <a:r>
              <a:rPr lang="en-US" sz="1400" b="1" dirty="0">
                <a:solidFill>
                  <a:srgbClr val="14213D"/>
                </a:solidFill>
                <a:latin typeface="DM Sans" pitchFamily="34" charset="0"/>
                <a:ea typeface="DM Sans" pitchFamily="34" charset="-122"/>
                <a:cs typeface="DM Sans" pitchFamily="34" charset="-120"/>
              </a:rPr>
              <a:t>Concentrated.</a:t>
            </a:r>
            <a:r>
              <a:rPr lang="en-US" sz="1400" dirty="0">
                <a:solidFill>
                  <a:srgbClr val="14213D"/>
                </a:solidFill>
                <a:latin typeface="DM Sans" pitchFamily="34" charset="0"/>
                <a:ea typeface="DM Sans" pitchFamily="34" charset="-122"/>
                <a:cs typeface="DM Sans" pitchFamily="34" charset="-120"/>
              </a:rPr>
              <a:t> Greater Accra alone earns more than the bottom 13 locations combined.</a:t>
            </a:r>
            <a:endParaRPr lang="en-US" sz="1400" dirty="0"/>
          </a:p>
        </p:txBody>
      </p:sp>
      <p:sp>
        <p:nvSpPr>
          <p:cNvPr id="24" name="Text 22"/>
          <p:cNvSpPr/>
          <p:nvPr/>
        </p:nvSpPr>
        <p:spPr>
          <a:xfrm>
            <a:off x="7425035" y="2996456"/>
            <a:ext cx="3950990" cy="791170"/>
          </a:xfrm>
          <a:prstGeom prst="roundRect">
            <a:avLst>
              <a:gd name="adj" fmla="val 12440"/>
            </a:avLst>
          </a:prstGeom>
          <a:solidFill>
            <a:srgbClr val="FFFFFF"/>
          </a:solidFill>
          <a:ln w="6350">
            <a:solidFill>
              <a:srgbClr val="E2DED2"/>
            </a:solidFill>
            <a:prstDash val="solid"/>
          </a:ln>
        </p:spPr>
        <p:txBody>
          <a:bodyPr wrap="square" lIns="152147" tIns="126747" rIns="44476" bIns="101347" rtlCol="0" anchor="t">
            <a:normAutofit/>
          </a:bodyPr>
          <a:lstStyle/>
          <a:p>
            <a:pPr algn="l" indent="0" marL="0">
              <a:lnSpc>
                <a:spcPts val="1890"/>
              </a:lnSpc>
              <a:buNone/>
            </a:pPr>
            <a:r>
              <a:rPr lang="en-US" sz="1400" b="1" dirty="0">
                <a:solidFill>
                  <a:srgbClr val="14213D"/>
                </a:solidFill>
                <a:latin typeface="DM Sans" pitchFamily="34" charset="0"/>
                <a:ea typeface="DM Sans" pitchFamily="34" charset="-122"/>
                <a:cs typeface="DM Sans" pitchFamily="34" charset="-120"/>
              </a:rPr>
              <a:t>Long tail.</a:t>
            </a:r>
            <a:r>
              <a:rPr lang="en-US" sz="1400" dirty="0">
                <a:solidFill>
                  <a:srgbClr val="14213D"/>
                </a:solidFill>
                <a:latin typeface="DM Sans" pitchFamily="34" charset="0"/>
                <a:ea typeface="DM Sans" pitchFamily="34" charset="-122"/>
                <a:cs typeface="DM Sans" pitchFamily="34" charset="-120"/>
              </a:rPr>
              <a:t> The remaining locations earn only ₹1M to ₹3M each.</a:t>
            </a:r>
            <a:endParaRPr lang="en-US" sz="1400" dirty="0"/>
          </a:p>
        </p:txBody>
      </p:sp>
      <p:sp>
        <p:nvSpPr>
          <p:cNvPr id="25" name="Text 23"/>
          <p:cNvSpPr/>
          <p:nvPr/>
        </p:nvSpPr>
        <p:spPr>
          <a:xfrm>
            <a:off x="7421860" y="3917801"/>
            <a:ext cx="3957340" cy="784820"/>
          </a:xfrm>
          <a:prstGeom prst="roundRect">
            <a:avLst>
              <a:gd name="adj" fmla="val 12946"/>
            </a:avLst>
          </a:prstGeom>
          <a:solidFill>
            <a:srgbClr val="14213D"/>
          </a:solidFill>
          <a:ln/>
        </p:spPr>
        <p:txBody>
          <a:bodyPr wrap="square" lIns="148042" tIns="122642" rIns="39990" bIns="97242" rtlCol="0" anchor="t">
            <a:normAutofit/>
          </a:bodyPr>
          <a:lstStyle/>
          <a:p>
            <a:pPr algn="l" indent="0" marL="0">
              <a:lnSpc>
                <a:spcPts val="1890"/>
              </a:lnSpc>
              <a:buNone/>
            </a:pPr>
            <a:r>
              <a:rPr lang="en-US" sz="1400" b="1" dirty="0">
                <a:solidFill>
                  <a:srgbClr val="F5A623"/>
                </a:solidFill>
                <a:latin typeface="DM Sans" pitchFamily="34" charset="0"/>
                <a:ea typeface="DM Sans" pitchFamily="34" charset="-122"/>
                <a:cs typeface="DM Sans" pitchFamily="34" charset="-120"/>
              </a:rPr>
              <a:t>Action.</a:t>
            </a:r>
            <a:r>
              <a:rPr lang="en-US" sz="1400" dirty="0">
                <a:solidFill>
                  <a:srgbClr val="F6F4EE"/>
                </a:solidFill>
                <a:latin typeface="DM Sans" pitchFamily="34" charset="0"/>
                <a:ea typeface="DM Sans" pitchFamily="34" charset="-122"/>
                <a:cs typeface="DM Sans" pitchFamily="34" charset="-120"/>
              </a:rPr>
              <a:t> Reinforce the top four, and test local promotions in the tail.</a:t>
            </a:r>
            <a:endParaRPr lang="en-US" sz="1400" dirty="0"/>
          </a:p>
        </p:txBody>
      </p:sp>
      <p:sp>
        <p:nvSpPr>
          <p:cNvPr id="26" name="Text 2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Top six locations shown, revenue in ₹M</a:t>
            </a:r>
            <a:endParaRPr lang="en-US" sz="1200" dirty="0"/>
          </a:p>
        </p:txBody>
      </p:sp>
      <p:sp>
        <p:nvSpPr>
          <p:cNvPr id="27" name="Text 2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DELIVERY TIME</a:t>
            </a:r>
            <a:endParaRPr lang="en-US" sz="1200" dirty="0"/>
          </a:p>
        </p:txBody>
      </p:sp>
      <p:sp>
        <p:nvSpPr>
          <p:cNvPr id="3" name="Text 1"/>
          <p:cNvSpPr/>
          <p:nvPr>
            <p:ph type="title"/>
          </p:nvPr>
        </p:nvSpPr>
        <p:spPr>
          <a:xfrm>
            <a:off x="812800" y="1127720"/>
            <a:ext cx="9810750"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Delivery type drives the wait: 3.5 days by Express, 15 from abroad</a:t>
            </a:r>
            <a:endParaRPr lang="en-US" sz="3200" dirty="0"/>
          </a:p>
        </p:txBody>
      </p:sp>
      <p:sp>
        <p:nvSpPr>
          <p:cNvPr id="4" name="Shape 2"/>
          <p:cNvSpPr/>
          <p:nvPr/>
        </p:nvSpPr>
        <p:spPr>
          <a:xfrm>
            <a:off x="815975" y="2278955"/>
            <a:ext cx="6399510" cy="2627511"/>
          </a:xfrm>
          <a:prstGeom prst="roundRect">
            <a:avLst>
              <a:gd name="adj" fmla="val 3746"/>
            </a:avLst>
          </a:prstGeom>
          <a:solidFill>
            <a:srgbClr val="FFFFFF"/>
          </a:solidFill>
          <a:ln w="6350">
            <a:solidFill>
              <a:srgbClr val="E2DED2"/>
            </a:solidFill>
            <a:prstDash val="solid"/>
          </a:ln>
        </p:spPr>
      </p:sp>
      <p:sp>
        <p:nvSpPr>
          <p:cNvPr id="5" name="Text 3"/>
          <p:cNvSpPr/>
          <p:nvPr/>
        </p:nvSpPr>
        <p:spPr>
          <a:xfrm>
            <a:off x="1047750" y="2569121"/>
            <a:ext cx="611403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5"/>
                </a:solidFill>
                <a:latin typeface="DM Sans" pitchFamily="34" charset="0"/>
                <a:ea typeface="DM Sans" pitchFamily="34" charset="-122"/>
                <a:cs typeface="DM Sans" pitchFamily="34" charset="-120"/>
              </a:rPr>
              <a:t>AVERAGE DAYS TO DELIVER</a:t>
            </a:r>
            <a:endParaRPr lang="en-US" sz="1200" dirty="0"/>
          </a:p>
        </p:txBody>
      </p:sp>
      <p:sp>
        <p:nvSpPr>
          <p:cNvPr id="6" name="Text 4"/>
          <p:cNvSpPr/>
          <p:nvPr/>
        </p:nvSpPr>
        <p:spPr>
          <a:xfrm>
            <a:off x="1047750" y="3073251"/>
            <a:ext cx="1638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Express</a:t>
            </a:r>
            <a:endParaRPr lang="en-US" sz="1300" dirty="0"/>
          </a:p>
        </p:txBody>
      </p:sp>
      <p:sp>
        <p:nvSpPr>
          <p:cNvPr id="7" name="Shape 5"/>
          <p:cNvSpPr/>
          <p:nvPr/>
        </p:nvSpPr>
        <p:spPr>
          <a:xfrm>
            <a:off x="2762250" y="3036441"/>
            <a:ext cx="742950" cy="304800"/>
          </a:xfrm>
          <a:custGeom>
            <a:avLst/>
            <a:gdLst/>
            <a:ahLst/>
            <a:cxnLst/>
            <a:rect l="l" t="t" r="r" b="b"/>
            <a:pathLst>
              <a:path w="742950" h="304800">
                <a:moveTo>
                  <a:pt x="0" y="0"/>
                </a:moveTo>
                <a:lnTo>
                  <a:pt x="692150" y="0"/>
                </a:lnTo>
                <a:arcTo hR="50800" wR="50800" stAng="16200000" swAng="5400000"/>
                <a:lnTo>
                  <a:pt x="742950" y="254000"/>
                </a:lnTo>
                <a:arcTo hR="50800" wR="50800" stAng="0" swAng="5400000"/>
                <a:lnTo>
                  <a:pt x="0" y="304800"/>
                </a:lnTo>
                <a:lnTo>
                  <a:pt x="0" y="0"/>
                </a:lnTo>
                <a:close/>
              </a:path>
            </a:pathLst>
          </a:custGeom>
          <a:solidFill>
            <a:srgbClr val="1F6F78"/>
          </a:solidFill>
          <a:ln/>
        </p:spPr>
      </p:sp>
      <p:sp>
        <p:nvSpPr>
          <p:cNvPr id="8" name="Text 6"/>
          <p:cNvSpPr/>
          <p:nvPr/>
        </p:nvSpPr>
        <p:spPr>
          <a:xfrm>
            <a:off x="3632200" y="3073251"/>
            <a:ext cx="685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3.5</a:t>
            </a:r>
            <a:endParaRPr lang="en-US" sz="1300" dirty="0"/>
          </a:p>
        </p:txBody>
      </p:sp>
      <p:sp>
        <p:nvSpPr>
          <p:cNvPr id="9" name="Text 7"/>
          <p:cNvSpPr/>
          <p:nvPr/>
        </p:nvSpPr>
        <p:spPr>
          <a:xfrm>
            <a:off x="1047750" y="3632051"/>
            <a:ext cx="1638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Standard Delivery</a:t>
            </a:r>
            <a:endParaRPr lang="en-US" sz="1300" dirty="0"/>
          </a:p>
        </p:txBody>
      </p:sp>
      <p:sp>
        <p:nvSpPr>
          <p:cNvPr id="10" name="Shape 8"/>
          <p:cNvSpPr/>
          <p:nvPr/>
        </p:nvSpPr>
        <p:spPr>
          <a:xfrm>
            <a:off x="2762250" y="3595241"/>
            <a:ext cx="2114550" cy="304800"/>
          </a:xfrm>
          <a:custGeom>
            <a:avLst/>
            <a:gdLst/>
            <a:ahLst/>
            <a:cxnLst/>
            <a:rect l="l" t="t" r="r" b="b"/>
            <a:pathLst>
              <a:path w="2114550" h="304800">
                <a:moveTo>
                  <a:pt x="0" y="0"/>
                </a:moveTo>
                <a:lnTo>
                  <a:pt x="2063750" y="0"/>
                </a:lnTo>
                <a:arcTo hR="50800" wR="50800" stAng="16200000" swAng="5400000"/>
                <a:lnTo>
                  <a:pt x="2114550" y="254000"/>
                </a:lnTo>
                <a:arcTo hR="50800" wR="50800" stAng="0" swAng="5400000"/>
                <a:lnTo>
                  <a:pt x="0" y="304800"/>
                </a:lnTo>
                <a:lnTo>
                  <a:pt x="0" y="0"/>
                </a:lnTo>
                <a:close/>
              </a:path>
            </a:pathLst>
          </a:custGeom>
          <a:solidFill>
            <a:srgbClr val="14213D"/>
          </a:solidFill>
          <a:ln/>
        </p:spPr>
      </p:sp>
      <p:sp>
        <p:nvSpPr>
          <p:cNvPr id="11" name="Text 9"/>
          <p:cNvSpPr/>
          <p:nvPr/>
        </p:nvSpPr>
        <p:spPr>
          <a:xfrm>
            <a:off x="5003800" y="3632051"/>
            <a:ext cx="685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10.0</a:t>
            </a:r>
            <a:endParaRPr lang="en-US" sz="1300" dirty="0"/>
          </a:p>
        </p:txBody>
      </p:sp>
      <p:sp>
        <p:nvSpPr>
          <p:cNvPr id="12" name="Text 10"/>
          <p:cNvSpPr/>
          <p:nvPr/>
        </p:nvSpPr>
        <p:spPr>
          <a:xfrm>
            <a:off x="1047750" y="4154041"/>
            <a:ext cx="163830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Shipped from Abroad</a:t>
            </a:r>
            <a:endParaRPr lang="en-US" sz="1300" dirty="0"/>
          </a:p>
        </p:txBody>
      </p:sp>
      <p:sp>
        <p:nvSpPr>
          <p:cNvPr id="13" name="Shape 11"/>
          <p:cNvSpPr/>
          <p:nvPr/>
        </p:nvSpPr>
        <p:spPr>
          <a:xfrm>
            <a:off x="2762250" y="4232771"/>
            <a:ext cx="3175000" cy="304800"/>
          </a:xfrm>
          <a:custGeom>
            <a:avLst/>
            <a:gdLst/>
            <a:ahLst/>
            <a:cxnLst/>
            <a:rect l="l" t="t" r="r" b="b"/>
            <a:pathLst>
              <a:path w="3175000" h="304800">
                <a:moveTo>
                  <a:pt x="0" y="0"/>
                </a:moveTo>
                <a:lnTo>
                  <a:pt x="3124200" y="0"/>
                </a:lnTo>
                <a:arcTo hR="50800" wR="50800" stAng="16200000" swAng="5400000"/>
                <a:lnTo>
                  <a:pt x="3175000" y="254000"/>
                </a:lnTo>
                <a:arcTo hR="50800" wR="50800" stAng="0" swAng="5400000"/>
                <a:lnTo>
                  <a:pt x="0" y="304800"/>
                </a:lnTo>
                <a:lnTo>
                  <a:pt x="0" y="0"/>
                </a:lnTo>
                <a:close/>
              </a:path>
            </a:pathLst>
          </a:custGeom>
          <a:solidFill>
            <a:srgbClr val="E07A00"/>
          </a:solidFill>
          <a:ln/>
        </p:spPr>
      </p:sp>
      <p:sp>
        <p:nvSpPr>
          <p:cNvPr id="14" name="Text 12"/>
          <p:cNvSpPr/>
          <p:nvPr/>
        </p:nvSpPr>
        <p:spPr>
          <a:xfrm>
            <a:off x="6064250" y="4269581"/>
            <a:ext cx="685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15.0</a:t>
            </a:r>
            <a:endParaRPr lang="en-US" sz="1300" dirty="0"/>
          </a:p>
        </p:txBody>
      </p:sp>
      <p:sp>
        <p:nvSpPr>
          <p:cNvPr id="15" name="Text 13"/>
          <p:cNvSpPr/>
          <p:nvPr/>
        </p:nvSpPr>
        <p:spPr>
          <a:xfrm>
            <a:off x="7425035" y="2278955"/>
            <a:ext cx="3950990" cy="791170"/>
          </a:xfrm>
          <a:prstGeom prst="roundRect">
            <a:avLst>
              <a:gd name="adj" fmla="val 12440"/>
            </a:avLst>
          </a:prstGeom>
          <a:solidFill>
            <a:srgbClr val="FFFFFF"/>
          </a:solidFill>
          <a:ln w="6350">
            <a:solidFill>
              <a:srgbClr val="E2DED2"/>
            </a:solidFill>
            <a:prstDash val="solid"/>
          </a:ln>
        </p:spPr>
        <p:txBody>
          <a:bodyPr wrap="square" lIns="152147" tIns="126747" rIns="44476" bIns="101347" rtlCol="0" anchor="t">
            <a:normAutofit/>
          </a:bodyPr>
          <a:lstStyle/>
          <a:p>
            <a:pPr algn="l" indent="0" marL="0">
              <a:lnSpc>
                <a:spcPts val="1890"/>
              </a:lnSpc>
              <a:buNone/>
            </a:pPr>
            <a:r>
              <a:rPr lang="en-US" sz="1400" b="1" dirty="0">
                <a:solidFill>
                  <a:srgbClr val="14213D"/>
                </a:solidFill>
                <a:latin typeface="DM Sans" pitchFamily="34" charset="0"/>
                <a:ea typeface="DM Sans" pitchFamily="34" charset="-122"/>
                <a:cs typeface="DM Sans" pitchFamily="34" charset="-120"/>
              </a:rPr>
              <a:t>Not the category.</a:t>
            </a:r>
            <a:r>
              <a:rPr lang="en-US" sz="1400" dirty="0">
                <a:solidFill>
                  <a:srgbClr val="14213D"/>
                </a:solidFill>
                <a:latin typeface="DM Sans" pitchFamily="34" charset="0"/>
                <a:ea typeface="DM Sans" pitchFamily="34" charset="-122"/>
                <a:cs typeface="DM Sans" pitchFamily="34" charset="-120"/>
              </a:rPr>
              <a:t> Every category averages 9.4 to 9.5 days.</a:t>
            </a:r>
            <a:endParaRPr lang="en-US" sz="1400" dirty="0"/>
          </a:p>
        </p:txBody>
      </p:sp>
      <p:sp>
        <p:nvSpPr>
          <p:cNvPr id="16" name="Text 14"/>
          <p:cNvSpPr/>
          <p:nvPr/>
        </p:nvSpPr>
        <p:spPr>
          <a:xfrm>
            <a:off x="7425035" y="3203476"/>
            <a:ext cx="3950990" cy="791170"/>
          </a:xfrm>
          <a:prstGeom prst="roundRect">
            <a:avLst>
              <a:gd name="adj" fmla="val 12440"/>
            </a:avLst>
          </a:prstGeom>
          <a:solidFill>
            <a:srgbClr val="FFFFFF"/>
          </a:solidFill>
          <a:ln w="6350">
            <a:solidFill>
              <a:srgbClr val="E2DED2"/>
            </a:solidFill>
            <a:prstDash val="solid"/>
          </a:ln>
        </p:spPr>
        <p:txBody>
          <a:bodyPr wrap="square" lIns="152147" tIns="126747" rIns="44476" bIns="101347" rtlCol="0" anchor="t">
            <a:normAutofit/>
          </a:bodyPr>
          <a:lstStyle/>
          <a:p>
            <a:pPr algn="l" indent="0" marL="0">
              <a:lnSpc>
                <a:spcPts val="1890"/>
              </a:lnSpc>
              <a:buNone/>
            </a:pPr>
            <a:r>
              <a:rPr lang="en-US" sz="1400" b="1" dirty="0">
                <a:solidFill>
                  <a:srgbClr val="14213D"/>
                </a:solidFill>
                <a:latin typeface="DM Sans" pitchFamily="34" charset="0"/>
                <a:ea typeface="DM Sans" pitchFamily="34" charset="-122"/>
                <a:cs typeface="DM Sans" pitchFamily="34" charset="-120"/>
              </a:rPr>
              <a:t>4.3× gap.</a:t>
            </a:r>
            <a:r>
              <a:rPr lang="en-US" sz="1400" dirty="0">
                <a:solidFill>
                  <a:srgbClr val="14213D"/>
                </a:solidFill>
                <a:latin typeface="DM Sans" pitchFamily="34" charset="0"/>
                <a:ea typeface="DM Sans" pitchFamily="34" charset="-122"/>
                <a:cs typeface="DM Sans" pitchFamily="34" charset="-120"/>
              </a:rPr>
              <a:t> Shipping from abroad takes more than four times as long as Express.</a:t>
            </a:r>
            <a:endParaRPr lang="en-US" sz="1400" dirty="0"/>
          </a:p>
        </p:txBody>
      </p:sp>
      <p:sp>
        <p:nvSpPr>
          <p:cNvPr id="17" name="Text 15"/>
          <p:cNvSpPr/>
          <p:nvPr/>
        </p:nvSpPr>
        <p:spPr>
          <a:xfrm>
            <a:off x="7421860" y="4124821"/>
            <a:ext cx="3957340" cy="784820"/>
          </a:xfrm>
          <a:prstGeom prst="roundRect">
            <a:avLst>
              <a:gd name="adj" fmla="val 12946"/>
            </a:avLst>
          </a:prstGeom>
          <a:solidFill>
            <a:srgbClr val="14213D"/>
          </a:solidFill>
          <a:ln/>
        </p:spPr>
        <p:txBody>
          <a:bodyPr wrap="square" lIns="148042" tIns="122642" rIns="39990" bIns="97242" rtlCol="0" anchor="t">
            <a:normAutofit/>
          </a:bodyPr>
          <a:lstStyle/>
          <a:p>
            <a:pPr algn="l" indent="0" marL="0">
              <a:lnSpc>
                <a:spcPts val="1890"/>
              </a:lnSpc>
              <a:buNone/>
            </a:pPr>
            <a:r>
              <a:rPr lang="en-US" sz="1400" b="1" dirty="0">
                <a:solidFill>
                  <a:srgbClr val="F5A623"/>
                </a:solidFill>
                <a:latin typeface="DM Sans" pitchFamily="34" charset="0"/>
                <a:ea typeface="DM Sans" pitchFamily="34" charset="-122"/>
                <a:cs typeface="DM Sans" pitchFamily="34" charset="-120"/>
              </a:rPr>
              <a:t>Action.</a:t>
            </a:r>
            <a:r>
              <a:rPr lang="en-US" sz="1400" dirty="0">
                <a:solidFill>
                  <a:srgbClr val="F6F4EE"/>
                </a:solidFill>
                <a:latin typeface="DM Sans" pitchFamily="34" charset="0"/>
                <a:ea typeface="DM Sans" pitchFamily="34" charset="-122"/>
                <a:cs typeface="DM Sans" pitchFamily="34" charset="-120"/>
              </a:rPr>
              <a:t> Show honest delivery windows at checkout, and stock nearer to customers.</a:t>
            </a:r>
            <a:endParaRPr lang="en-US" sz="1400" dirty="0"/>
          </a:p>
        </p:txBody>
      </p:sp>
      <p:sp>
        <p:nvSpPr>
          <p:cNvPr id="18" name="Text 1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Delivered orders only</a:t>
            </a:r>
            <a:endParaRPr lang="en-US" sz="1200" dirty="0"/>
          </a:p>
        </p:txBody>
      </p:sp>
      <p:sp>
        <p:nvSpPr>
          <p:cNvPr id="19" name="Text 1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RETURNS</a:t>
            </a:r>
            <a:endParaRPr lang="en-US" sz="1200" dirty="0"/>
          </a:p>
        </p:txBody>
      </p:sp>
      <p:sp>
        <p:nvSpPr>
          <p:cNvPr id="3" name="Text 1"/>
          <p:cNvSpPr/>
          <p:nvPr>
            <p:ph type="title"/>
          </p:nvPr>
        </p:nvSpPr>
        <p:spPr>
          <a:xfrm>
            <a:off x="812800" y="1127720"/>
            <a:ext cx="9810750"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Health and Beauty and Fashion cause over 60% of returns</a:t>
            </a:r>
            <a:endParaRPr lang="en-US" sz="3200" dirty="0"/>
          </a:p>
        </p:txBody>
      </p:sp>
      <p:sp>
        <p:nvSpPr>
          <p:cNvPr id="4" name="Shape 2"/>
          <p:cNvSpPr/>
          <p:nvPr/>
        </p:nvSpPr>
        <p:spPr>
          <a:xfrm>
            <a:off x="815975" y="2278955"/>
            <a:ext cx="6399510" cy="2867521"/>
          </a:xfrm>
          <a:prstGeom prst="roundRect">
            <a:avLst>
              <a:gd name="adj" fmla="val 3432"/>
            </a:avLst>
          </a:prstGeom>
          <a:solidFill>
            <a:srgbClr val="FFFFFF"/>
          </a:solidFill>
          <a:ln w="6350">
            <a:solidFill>
              <a:srgbClr val="E2DED2"/>
            </a:solidFill>
            <a:prstDash val="solid"/>
          </a:ln>
        </p:spPr>
      </p:sp>
      <p:sp>
        <p:nvSpPr>
          <p:cNvPr id="5" name="Text 3"/>
          <p:cNvSpPr/>
          <p:nvPr/>
        </p:nvSpPr>
        <p:spPr>
          <a:xfrm>
            <a:off x="1047750" y="2510730"/>
            <a:ext cx="611403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5"/>
                </a:solidFill>
                <a:latin typeface="DM Sans" pitchFamily="34" charset="0"/>
                <a:ea typeface="DM Sans" pitchFamily="34" charset="-122"/>
                <a:cs typeface="DM Sans" pitchFamily="34" charset="-120"/>
              </a:rPr>
              <a:t>RETURNED ORDERS BY CATEGORY</a:t>
            </a:r>
            <a:endParaRPr lang="en-US" sz="1200" dirty="0"/>
          </a:p>
        </p:txBody>
      </p:sp>
      <p:sp>
        <p:nvSpPr>
          <p:cNvPr id="6" name="Text 4"/>
          <p:cNvSpPr/>
          <p:nvPr/>
        </p:nvSpPr>
        <p:spPr>
          <a:xfrm>
            <a:off x="1047750" y="2900561"/>
            <a:ext cx="1638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Health and Beauty</a:t>
            </a:r>
            <a:endParaRPr lang="en-US" sz="1300" dirty="0"/>
          </a:p>
        </p:txBody>
      </p:sp>
      <p:sp>
        <p:nvSpPr>
          <p:cNvPr id="7" name="Shape 5"/>
          <p:cNvSpPr/>
          <p:nvPr/>
        </p:nvSpPr>
        <p:spPr>
          <a:xfrm>
            <a:off x="2762250" y="2889151"/>
            <a:ext cx="3175000" cy="254000"/>
          </a:xfrm>
          <a:custGeom>
            <a:avLst/>
            <a:gdLst/>
            <a:ahLst/>
            <a:cxnLst/>
            <a:rect l="l" t="t" r="r" b="b"/>
            <a:pathLst>
              <a:path w="3175000" h="254000">
                <a:moveTo>
                  <a:pt x="0" y="0"/>
                </a:moveTo>
                <a:lnTo>
                  <a:pt x="3124200" y="0"/>
                </a:lnTo>
                <a:arcTo hR="50800" wR="50800" stAng="16200000" swAng="5400000"/>
                <a:lnTo>
                  <a:pt x="3175000" y="203200"/>
                </a:lnTo>
                <a:arcTo hR="50800" wR="50800" stAng="0" swAng="5400000"/>
                <a:lnTo>
                  <a:pt x="0" y="254000"/>
                </a:lnTo>
                <a:lnTo>
                  <a:pt x="0" y="0"/>
                </a:lnTo>
                <a:close/>
              </a:path>
            </a:pathLst>
          </a:custGeom>
          <a:solidFill>
            <a:srgbClr val="E07A00"/>
          </a:solidFill>
          <a:ln/>
        </p:spPr>
      </p:sp>
      <p:sp>
        <p:nvSpPr>
          <p:cNvPr id="8" name="Text 6"/>
          <p:cNvSpPr/>
          <p:nvPr/>
        </p:nvSpPr>
        <p:spPr>
          <a:xfrm>
            <a:off x="6064250" y="2900561"/>
            <a:ext cx="622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9.8K</a:t>
            </a:r>
            <a:endParaRPr lang="en-US" sz="1300" dirty="0"/>
          </a:p>
        </p:txBody>
      </p:sp>
      <p:sp>
        <p:nvSpPr>
          <p:cNvPr id="9" name="Text 7"/>
          <p:cNvSpPr/>
          <p:nvPr/>
        </p:nvSpPr>
        <p:spPr>
          <a:xfrm>
            <a:off x="1047750" y="3319661"/>
            <a:ext cx="1638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Fashion</a:t>
            </a:r>
            <a:endParaRPr lang="en-US" sz="1300" dirty="0"/>
          </a:p>
        </p:txBody>
      </p:sp>
      <p:sp>
        <p:nvSpPr>
          <p:cNvPr id="10" name="Shape 8"/>
          <p:cNvSpPr/>
          <p:nvPr/>
        </p:nvSpPr>
        <p:spPr>
          <a:xfrm>
            <a:off x="2762250" y="3308251"/>
            <a:ext cx="2914650" cy="254000"/>
          </a:xfrm>
          <a:custGeom>
            <a:avLst/>
            <a:gdLst/>
            <a:ahLst/>
            <a:cxnLst/>
            <a:rect l="l" t="t" r="r" b="b"/>
            <a:pathLst>
              <a:path w="2914650" h="254000">
                <a:moveTo>
                  <a:pt x="0" y="0"/>
                </a:moveTo>
                <a:lnTo>
                  <a:pt x="2863850" y="0"/>
                </a:lnTo>
                <a:arcTo hR="50800" wR="50800" stAng="16200000" swAng="5400000"/>
                <a:lnTo>
                  <a:pt x="2914650" y="203200"/>
                </a:lnTo>
                <a:arcTo hR="50800" wR="50800" stAng="0" swAng="5400000"/>
                <a:lnTo>
                  <a:pt x="0" y="254000"/>
                </a:lnTo>
                <a:lnTo>
                  <a:pt x="0" y="0"/>
                </a:lnTo>
                <a:close/>
              </a:path>
            </a:pathLst>
          </a:custGeom>
          <a:solidFill>
            <a:srgbClr val="E07A00"/>
          </a:solidFill>
          <a:ln/>
        </p:spPr>
      </p:sp>
      <p:sp>
        <p:nvSpPr>
          <p:cNvPr id="11" name="Text 9"/>
          <p:cNvSpPr/>
          <p:nvPr/>
        </p:nvSpPr>
        <p:spPr>
          <a:xfrm>
            <a:off x="5803900" y="3319661"/>
            <a:ext cx="622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9.0K</a:t>
            </a:r>
            <a:endParaRPr lang="en-US" sz="1300" dirty="0"/>
          </a:p>
        </p:txBody>
      </p:sp>
      <p:sp>
        <p:nvSpPr>
          <p:cNvPr id="12" name="Text 10"/>
          <p:cNvSpPr/>
          <p:nvPr/>
        </p:nvSpPr>
        <p:spPr>
          <a:xfrm>
            <a:off x="1047750" y="3738761"/>
            <a:ext cx="1638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Phones and Tablet</a:t>
            </a:r>
            <a:endParaRPr lang="en-US" sz="1300" dirty="0"/>
          </a:p>
        </p:txBody>
      </p:sp>
      <p:sp>
        <p:nvSpPr>
          <p:cNvPr id="13" name="Shape 11"/>
          <p:cNvSpPr/>
          <p:nvPr/>
        </p:nvSpPr>
        <p:spPr>
          <a:xfrm>
            <a:off x="2762250" y="3727351"/>
            <a:ext cx="1524000" cy="254000"/>
          </a:xfrm>
          <a:custGeom>
            <a:avLst/>
            <a:gdLst/>
            <a:ahLst/>
            <a:cxnLst/>
            <a:rect l="l" t="t" r="r" b="b"/>
            <a:pathLst>
              <a:path w="1524000" h="254000">
                <a:moveTo>
                  <a:pt x="0" y="0"/>
                </a:moveTo>
                <a:lnTo>
                  <a:pt x="1473200" y="0"/>
                </a:lnTo>
                <a:arcTo hR="50800" wR="50800" stAng="16200000" swAng="5400000"/>
                <a:lnTo>
                  <a:pt x="1524000" y="203200"/>
                </a:lnTo>
                <a:arcTo hR="50800" wR="50800" stAng="0" swAng="5400000"/>
                <a:lnTo>
                  <a:pt x="0" y="254000"/>
                </a:lnTo>
                <a:lnTo>
                  <a:pt x="0" y="0"/>
                </a:lnTo>
                <a:close/>
              </a:path>
            </a:pathLst>
          </a:custGeom>
          <a:solidFill>
            <a:srgbClr val="14213D"/>
          </a:solidFill>
          <a:ln/>
        </p:spPr>
      </p:sp>
      <p:sp>
        <p:nvSpPr>
          <p:cNvPr id="14" name="Text 12"/>
          <p:cNvSpPr/>
          <p:nvPr/>
        </p:nvSpPr>
        <p:spPr>
          <a:xfrm>
            <a:off x="4413250" y="3738761"/>
            <a:ext cx="622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4.7K</a:t>
            </a:r>
            <a:endParaRPr lang="en-US" sz="1300" dirty="0"/>
          </a:p>
        </p:txBody>
      </p:sp>
      <p:sp>
        <p:nvSpPr>
          <p:cNvPr id="15" name="Text 13"/>
          <p:cNvSpPr/>
          <p:nvPr/>
        </p:nvSpPr>
        <p:spPr>
          <a:xfrm>
            <a:off x="1047750" y="4157861"/>
            <a:ext cx="1638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Home and Office</a:t>
            </a:r>
            <a:endParaRPr lang="en-US" sz="1300" dirty="0"/>
          </a:p>
        </p:txBody>
      </p:sp>
      <p:sp>
        <p:nvSpPr>
          <p:cNvPr id="16" name="Shape 14"/>
          <p:cNvSpPr/>
          <p:nvPr/>
        </p:nvSpPr>
        <p:spPr>
          <a:xfrm>
            <a:off x="2762250" y="4146451"/>
            <a:ext cx="1358900" cy="254000"/>
          </a:xfrm>
          <a:custGeom>
            <a:avLst/>
            <a:gdLst/>
            <a:ahLst/>
            <a:cxnLst/>
            <a:rect l="l" t="t" r="r" b="b"/>
            <a:pathLst>
              <a:path w="1358900" h="254000">
                <a:moveTo>
                  <a:pt x="0" y="0"/>
                </a:moveTo>
                <a:lnTo>
                  <a:pt x="1308100" y="0"/>
                </a:lnTo>
                <a:arcTo hR="50800" wR="50800" stAng="16200000" swAng="5400000"/>
                <a:lnTo>
                  <a:pt x="1358900" y="203200"/>
                </a:lnTo>
                <a:arcTo hR="50800" wR="50800" stAng="0" swAng="5400000"/>
                <a:lnTo>
                  <a:pt x="0" y="254000"/>
                </a:lnTo>
                <a:lnTo>
                  <a:pt x="0" y="0"/>
                </a:lnTo>
                <a:close/>
              </a:path>
            </a:pathLst>
          </a:custGeom>
          <a:solidFill>
            <a:srgbClr val="14213D"/>
          </a:solidFill>
          <a:ln/>
        </p:spPr>
      </p:sp>
      <p:sp>
        <p:nvSpPr>
          <p:cNvPr id="17" name="Text 15"/>
          <p:cNvSpPr/>
          <p:nvPr/>
        </p:nvSpPr>
        <p:spPr>
          <a:xfrm>
            <a:off x="4248150" y="4157861"/>
            <a:ext cx="622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4.2K</a:t>
            </a:r>
            <a:endParaRPr lang="en-US" sz="1300" dirty="0"/>
          </a:p>
        </p:txBody>
      </p:sp>
      <p:sp>
        <p:nvSpPr>
          <p:cNvPr id="18" name="Text 16"/>
          <p:cNvSpPr/>
          <p:nvPr/>
        </p:nvSpPr>
        <p:spPr>
          <a:xfrm>
            <a:off x="1047750" y="4576961"/>
            <a:ext cx="16383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DM Sans" pitchFamily="34" charset="0"/>
                <a:ea typeface="DM Sans" pitchFamily="34" charset="-122"/>
                <a:cs typeface="DM Sans" pitchFamily="34" charset="-120"/>
              </a:rPr>
              <a:t>Electronics</a:t>
            </a:r>
            <a:endParaRPr lang="en-US" sz="1300" dirty="0"/>
          </a:p>
        </p:txBody>
      </p:sp>
      <p:sp>
        <p:nvSpPr>
          <p:cNvPr id="19" name="Shape 17"/>
          <p:cNvSpPr/>
          <p:nvPr/>
        </p:nvSpPr>
        <p:spPr>
          <a:xfrm>
            <a:off x="2762250" y="4565551"/>
            <a:ext cx="876300" cy="254000"/>
          </a:xfrm>
          <a:custGeom>
            <a:avLst/>
            <a:gdLst/>
            <a:ahLst/>
            <a:cxnLst/>
            <a:rect l="l" t="t" r="r" b="b"/>
            <a:pathLst>
              <a:path w="876300" h="254000">
                <a:moveTo>
                  <a:pt x="0" y="0"/>
                </a:moveTo>
                <a:lnTo>
                  <a:pt x="825500" y="0"/>
                </a:lnTo>
                <a:arcTo hR="50800" wR="50800" stAng="16200000" swAng="5400000"/>
                <a:lnTo>
                  <a:pt x="876300" y="203200"/>
                </a:lnTo>
                <a:arcTo hR="50800" wR="50800" stAng="0" swAng="5400000"/>
                <a:lnTo>
                  <a:pt x="0" y="254000"/>
                </a:lnTo>
                <a:lnTo>
                  <a:pt x="0" y="0"/>
                </a:lnTo>
                <a:close/>
              </a:path>
            </a:pathLst>
          </a:custGeom>
          <a:solidFill>
            <a:srgbClr val="14213D"/>
          </a:solidFill>
          <a:ln/>
        </p:spPr>
      </p:sp>
      <p:sp>
        <p:nvSpPr>
          <p:cNvPr id="20" name="Text 18"/>
          <p:cNvSpPr/>
          <p:nvPr/>
        </p:nvSpPr>
        <p:spPr>
          <a:xfrm>
            <a:off x="3765550" y="4576961"/>
            <a:ext cx="6223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2.7K</a:t>
            </a:r>
            <a:endParaRPr lang="en-US" sz="1300" dirty="0"/>
          </a:p>
        </p:txBody>
      </p:sp>
      <p:sp>
        <p:nvSpPr>
          <p:cNvPr id="21" name="Text 19"/>
          <p:cNvSpPr/>
          <p:nvPr/>
        </p:nvSpPr>
        <p:spPr>
          <a:xfrm>
            <a:off x="7425035" y="2278955"/>
            <a:ext cx="3950990" cy="1031180"/>
          </a:xfrm>
          <a:prstGeom prst="roundRect">
            <a:avLst>
              <a:gd name="adj" fmla="val 9545"/>
            </a:avLst>
          </a:prstGeom>
          <a:solidFill>
            <a:srgbClr val="FFFFFF"/>
          </a:solidFill>
          <a:ln w="6350">
            <a:solidFill>
              <a:srgbClr val="E2DED2"/>
            </a:solidFill>
            <a:prstDash val="solid"/>
          </a:ln>
        </p:spPr>
        <p:txBody>
          <a:bodyPr wrap="square" lIns="152147" tIns="126747" rIns="44476" bIns="101347" rtlCol="0" anchor="t">
            <a:normAutofit/>
          </a:bodyPr>
          <a:lstStyle/>
          <a:p>
            <a:pPr algn="l" indent="0" marL="0">
              <a:lnSpc>
                <a:spcPts val="1890"/>
              </a:lnSpc>
              <a:buNone/>
            </a:pPr>
            <a:r>
              <a:rPr lang="en-US" sz="1400" b="1" dirty="0">
                <a:solidFill>
                  <a:srgbClr val="14213D"/>
                </a:solidFill>
                <a:latin typeface="DM Sans" pitchFamily="34" charset="0"/>
                <a:ea typeface="DM Sans" pitchFamily="34" charset="-122"/>
                <a:cs typeface="DM Sans" pitchFamily="34" charset="-120"/>
              </a:rPr>
              <a:t>Expectation gap.</a:t>
            </a:r>
            <a:r>
              <a:rPr lang="en-US" sz="1400" dirty="0">
                <a:solidFill>
                  <a:srgbClr val="14213D"/>
                </a:solidFill>
                <a:latin typeface="DM Sans" pitchFamily="34" charset="0"/>
                <a:ea typeface="DM Sans" pitchFamily="34" charset="-122"/>
                <a:cs typeface="DM Sans" pitchFamily="34" charset="-120"/>
              </a:rPr>
              <a:t> “Not fitting expectation” and “description mismatch” make up about 40% of real returns.</a:t>
            </a:r>
            <a:endParaRPr lang="en-US" sz="1400" dirty="0"/>
          </a:p>
        </p:txBody>
      </p:sp>
      <p:sp>
        <p:nvSpPr>
          <p:cNvPr id="22" name="Text 20"/>
          <p:cNvSpPr/>
          <p:nvPr/>
        </p:nvSpPr>
        <p:spPr>
          <a:xfrm>
            <a:off x="7425035" y="3443486"/>
            <a:ext cx="3950990" cy="791170"/>
          </a:xfrm>
          <a:prstGeom prst="roundRect">
            <a:avLst>
              <a:gd name="adj" fmla="val 12440"/>
            </a:avLst>
          </a:prstGeom>
          <a:solidFill>
            <a:srgbClr val="FFFFFF"/>
          </a:solidFill>
          <a:ln w="6350">
            <a:solidFill>
              <a:srgbClr val="E2DED2"/>
            </a:solidFill>
            <a:prstDash val="solid"/>
          </a:ln>
        </p:spPr>
        <p:txBody>
          <a:bodyPr wrap="square" lIns="152147" tIns="126747" rIns="44476" bIns="101347" rtlCol="0" anchor="t">
            <a:normAutofit/>
          </a:bodyPr>
          <a:lstStyle/>
          <a:p>
            <a:pPr algn="l" indent="0" marL="0">
              <a:lnSpc>
                <a:spcPts val="1890"/>
              </a:lnSpc>
              <a:buNone/>
            </a:pPr>
            <a:r>
              <a:rPr lang="en-US" sz="1400" b="1" dirty="0">
                <a:solidFill>
                  <a:srgbClr val="14213D"/>
                </a:solidFill>
                <a:latin typeface="DM Sans" pitchFamily="34" charset="0"/>
                <a:ea typeface="DM Sans" pitchFamily="34" charset="-122"/>
                <a:cs typeface="DM Sans" pitchFamily="34" charset="-120"/>
              </a:rPr>
              <a:t>Slow shipping adds to it.</a:t>
            </a:r>
            <a:r>
              <a:rPr lang="en-US" sz="1400" dirty="0">
                <a:solidFill>
                  <a:srgbClr val="14213D"/>
                </a:solidFill>
                <a:latin typeface="DM Sans" pitchFamily="34" charset="0"/>
                <a:ea typeface="DM Sans" pitchFamily="34" charset="-122"/>
                <a:cs typeface="DM Sans" pitchFamily="34" charset="-120"/>
              </a:rPr>
              <a:t> About a third of Fashion revenue ships from abroad.</a:t>
            </a:r>
            <a:endParaRPr lang="en-US" sz="1400" dirty="0"/>
          </a:p>
        </p:txBody>
      </p:sp>
      <p:sp>
        <p:nvSpPr>
          <p:cNvPr id="23" name="Text 21"/>
          <p:cNvSpPr/>
          <p:nvPr/>
        </p:nvSpPr>
        <p:spPr>
          <a:xfrm>
            <a:off x="7421860" y="4364831"/>
            <a:ext cx="3957340" cy="784820"/>
          </a:xfrm>
          <a:prstGeom prst="roundRect">
            <a:avLst>
              <a:gd name="adj" fmla="val 12946"/>
            </a:avLst>
          </a:prstGeom>
          <a:solidFill>
            <a:srgbClr val="14213D"/>
          </a:solidFill>
          <a:ln/>
        </p:spPr>
        <p:txBody>
          <a:bodyPr wrap="square" lIns="148042" tIns="122642" rIns="39990" bIns="97242" rtlCol="0" anchor="t">
            <a:normAutofit/>
          </a:bodyPr>
          <a:lstStyle/>
          <a:p>
            <a:pPr algn="l" indent="0" marL="0">
              <a:lnSpc>
                <a:spcPts val="1890"/>
              </a:lnSpc>
              <a:buNone/>
            </a:pPr>
            <a:r>
              <a:rPr lang="en-US" sz="1400" b="1" dirty="0">
                <a:solidFill>
                  <a:srgbClr val="F5A623"/>
                </a:solidFill>
                <a:latin typeface="DM Sans" pitchFamily="34" charset="0"/>
                <a:ea typeface="DM Sans" pitchFamily="34" charset="-122"/>
                <a:cs typeface="DM Sans" pitchFamily="34" charset="-120"/>
              </a:rPr>
              <a:t>Action.</a:t>
            </a:r>
            <a:r>
              <a:rPr lang="en-US" sz="1400" dirty="0">
                <a:solidFill>
                  <a:srgbClr val="F6F4EE"/>
                </a:solidFill>
                <a:latin typeface="DM Sans" pitchFamily="34" charset="0"/>
                <a:ea typeface="DM Sans" pitchFamily="34" charset="-122"/>
                <a:cs typeface="DM Sans" pitchFamily="34" charset="-120"/>
              </a:rPr>
              <a:t> Fix descriptions, sizing guides and images for these two categories.</a:t>
            </a:r>
            <a:endParaRPr lang="en-US" sz="1400" dirty="0"/>
          </a:p>
        </p:txBody>
      </p:sp>
      <p:sp>
        <p:nvSpPr>
          <p:cNvPr id="24" name="Text 2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30.5K returned orders in total</a:t>
            </a:r>
            <a:endParaRPr lang="en-US" sz="1200" dirty="0"/>
          </a:p>
        </p:txBody>
      </p:sp>
      <p:sp>
        <p:nvSpPr>
          <p:cNvPr id="25" name="Text 2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PRODUCTS</a:t>
            </a:r>
            <a:endParaRPr lang="en-US" sz="1200" dirty="0"/>
          </a:p>
        </p:txBody>
      </p:sp>
      <p:sp>
        <p:nvSpPr>
          <p:cNvPr id="3" name="Text 1"/>
          <p:cNvSpPr/>
          <p:nvPr>
            <p:ph type="title"/>
          </p:nvPr>
        </p:nvSpPr>
        <p:spPr>
          <a:xfrm>
            <a:off x="812800" y="1127720"/>
            <a:ext cx="9810750"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Two Canon cameras earn big revenue from very few sales</a:t>
            </a:r>
            <a:endParaRPr lang="en-US" sz="3200" dirty="0"/>
          </a:p>
        </p:txBody>
      </p:sp>
      <p:sp>
        <p:nvSpPr>
          <p:cNvPr id="4" name="Shape 2"/>
          <p:cNvSpPr/>
          <p:nvPr/>
        </p:nvSpPr>
        <p:spPr>
          <a:xfrm>
            <a:off x="815975" y="2278955"/>
            <a:ext cx="6399510" cy="2867521"/>
          </a:xfrm>
          <a:prstGeom prst="roundRect">
            <a:avLst>
              <a:gd name="adj" fmla="val 3432"/>
            </a:avLst>
          </a:prstGeom>
          <a:solidFill>
            <a:srgbClr val="FFFFFF"/>
          </a:solidFill>
          <a:ln w="6350">
            <a:solidFill>
              <a:srgbClr val="E2DED2"/>
            </a:solidFill>
            <a:prstDash val="solid"/>
          </a:ln>
        </p:spPr>
      </p:sp>
      <p:sp>
        <p:nvSpPr>
          <p:cNvPr id="5" name="Text 3"/>
          <p:cNvSpPr/>
          <p:nvPr/>
        </p:nvSpPr>
        <p:spPr>
          <a:xfrm>
            <a:off x="1047750" y="2510730"/>
            <a:ext cx="611403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5"/>
                </a:solidFill>
                <a:latin typeface="DM Sans" pitchFamily="34" charset="0"/>
                <a:ea typeface="DM Sans" pitchFamily="34" charset="-122"/>
                <a:cs typeface="DM Sans" pitchFamily="34" charset="-120"/>
              </a:rPr>
              <a:t>TOP FIVE PRODUCTS BY REVENUE</a:t>
            </a:r>
            <a:endParaRPr lang="en-US" sz="1200" dirty="0"/>
          </a:p>
        </p:txBody>
      </p:sp>
      <p:sp>
        <p:nvSpPr>
          <p:cNvPr id="6" name="Text 4"/>
          <p:cNvSpPr/>
          <p:nvPr/>
        </p:nvSpPr>
        <p:spPr>
          <a:xfrm>
            <a:off x="1047750" y="2912021"/>
            <a:ext cx="2158365"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4213D"/>
                </a:solidFill>
                <a:latin typeface="DM Sans" pitchFamily="34" charset="0"/>
                <a:ea typeface="DM Sans" pitchFamily="34" charset="-122"/>
                <a:cs typeface="DM Sans" pitchFamily="34" charset="-120"/>
              </a:rPr>
              <a:t>Canon EOS 600D DSLR</a:t>
            </a:r>
            <a:endParaRPr lang="en-US" sz="1200" dirty="0"/>
          </a:p>
        </p:txBody>
      </p:sp>
      <p:sp>
        <p:nvSpPr>
          <p:cNvPr id="7" name="Shape 5"/>
          <p:cNvSpPr/>
          <p:nvPr/>
        </p:nvSpPr>
        <p:spPr>
          <a:xfrm>
            <a:off x="3244850" y="2876451"/>
            <a:ext cx="2540000" cy="254000"/>
          </a:xfrm>
          <a:custGeom>
            <a:avLst/>
            <a:gdLst/>
            <a:ahLst/>
            <a:cxnLst/>
            <a:rect l="l" t="t" r="r" b="b"/>
            <a:pathLst>
              <a:path w="2540000" h="254000">
                <a:moveTo>
                  <a:pt x="0" y="0"/>
                </a:moveTo>
                <a:lnTo>
                  <a:pt x="2489200" y="0"/>
                </a:lnTo>
                <a:arcTo hR="50800" wR="50800" stAng="16200000" swAng="5400000"/>
                <a:lnTo>
                  <a:pt x="2540000" y="203200"/>
                </a:lnTo>
                <a:arcTo hR="50800" wR="50800" stAng="0" swAng="5400000"/>
                <a:lnTo>
                  <a:pt x="0" y="254000"/>
                </a:lnTo>
                <a:lnTo>
                  <a:pt x="0" y="0"/>
                </a:lnTo>
                <a:close/>
              </a:path>
            </a:pathLst>
          </a:custGeom>
          <a:solidFill>
            <a:srgbClr val="E07A00"/>
          </a:solidFill>
          <a:ln/>
        </p:spPr>
      </p:sp>
      <p:sp>
        <p:nvSpPr>
          <p:cNvPr id="8" name="Text 6"/>
          <p:cNvSpPr/>
          <p:nvPr/>
        </p:nvSpPr>
        <p:spPr>
          <a:xfrm>
            <a:off x="5886450" y="2887861"/>
            <a:ext cx="685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₹13.9M</a:t>
            </a:r>
            <a:endParaRPr lang="en-US" sz="1300" dirty="0"/>
          </a:p>
        </p:txBody>
      </p:sp>
      <p:sp>
        <p:nvSpPr>
          <p:cNvPr id="9" name="Text 7"/>
          <p:cNvSpPr/>
          <p:nvPr/>
        </p:nvSpPr>
        <p:spPr>
          <a:xfrm>
            <a:off x="1047750" y="3318421"/>
            <a:ext cx="2158365"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4213D"/>
                </a:solidFill>
                <a:latin typeface="DM Sans" pitchFamily="34" charset="0"/>
                <a:ea typeface="DM Sans" pitchFamily="34" charset="-122"/>
                <a:cs typeface="DM Sans" pitchFamily="34" charset="-120"/>
              </a:rPr>
              <a:t>Canon EOS 60D bundle</a:t>
            </a:r>
            <a:endParaRPr lang="en-US" sz="1200" dirty="0"/>
          </a:p>
        </p:txBody>
      </p:sp>
      <p:sp>
        <p:nvSpPr>
          <p:cNvPr id="10" name="Shape 8"/>
          <p:cNvSpPr/>
          <p:nvPr/>
        </p:nvSpPr>
        <p:spPr>
          <a:xfrm>
            <a:off x="3244850" y="3282851"/>
            <a:ext cx="2209800" cy="254000"/>
          </a:xfrm>
          <a:custGeom>
            <a:avLst/>
            <a:gdLst/>
            <a:ahLst/>
            <a:cxnLst/>
            <a:rect l="l" t="t" r="r" b="b"/>
            <a:pathLst>
              <a:path w="2209800" h="254000">
                <a:moveTo>
                  <a:pt x="0" y="0"/>
                </a:moveTo>
                <a:lnTo>
                  <a:pt x="2159000" y="0"/>
                </a:lnTo>
                <a:arcTo hR="50800" wR="50800" stAng="16200000" swAng="5400000"/>
                <a:lnTo>
                  <a:pt x="2209800" y="203200"/>
                </a:lnTo>
                <a:arcTo hR="50800" wR="50800" stAng="0" swAng="5400000"/>
                <a:lnTo>
                  <a:pt x="0" y="254000"/>
                </a:lnTo>
                <a:lnTo>
                  <a:pt x="0" y="0"/>
                </a:lnTo>
                <a:close/>
              </a:path>
            </a:pathLst>
          </a:custGeom>
          <a:solidFill>
            <a:srgbClr val="E07A00"/>
          </a:solidFill>
          <a:ln/>
        </p:spPr>
      </p:sp>
      <p:sp>
        <p:nvSpPr>
          <p:cNvPr id="11" name="Text 9"/>
          <p:cNvSpPr/>
          <p:nvPr/>
        </p:nvSpPr>
        <p:spPr>
          <a:xfrm>
            <a:off x="5556250" y="3294261"/>
            <a:ext cx="685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₹12.1M</a:t>
            </a:r>
            <a:endParaRPr lang="en-US" sz="1300" dirty="0"/>
          </a:p>
        </p:txBody>
      </p:sp>
      <p:sp>
        <p:nvSpPr>
          <p:cNvPr id="12" name="Text 10"/>
          <p:cNvSpPr/>
          <p:nvPr/>
        </p:nvSpPr>
        <p:spPr>
          <a:xfrm>
            <a:off x="1047750" y="3724821"/>
            <a:ext cx="219710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4213D"/>
                </a:solidFill>
                <a:latin typeface="DM Sans" pitchFamily="34" charset="0"/>
                <a:ea typeface="DM Sans" pitchFamily="34" charset="-122"/>
                <a:cs typeface="DM Sans" pitchFamily="34" charset="-120"/>
              </a:rPr>
              <a:t>Amazon Fire HD 8 Kids tablet</a:t>
            </a:r>
            <a:endParaRPr lang="en-US" sz="1200" dirty="0"/>
          </a:p>
        </p:txBody>
      </p:sp>
      <p:sp>
        <p:nvSpPr>
          <p:cNvPr id="13" name="Shape 11"/>
          <p:cNvSpPr/>
          <p:nvPr/>
        </p:nvSpPr>
        <p:spPr>
          <a:xfrm>
            <a:off x="3244850" y="3689251"/>
            <a:ext cx="2044700" cy="254000"/>
          </a:xfrm>
          <a:custGeom>
            <a:avLst/>
            <a:gdLst/>
            <a:ahLst/>
            <a:cxnLst/>
            <a:rect l="l" t="t" r="r" b="b"/>
            <a:pathLst>
              <a:path w="2044700" h="254000">
                <a:moveTo>
                  <a:pt x="0" y="0"/>
                </a:moveTo>
                <a:lnTo>
                  <a:pt x="1993900" y="0"/>
                </a:lnTo>
                <a:arcTo hR="50800" wR="50800" stAng="16200000" swAng="5400000"/>
                <a:lnTo>
                  <a:pt x="2044700" y="203200"/>
                </a:lnTo>
                <a:arcTo hR="50800" wR="50800" stAng="0" swAng="5400000"/>
                <a:lnTo>
                  <a:pt x="0" y="254000"/>
                </a:lnTo>
                <a:lnTo>
                  <a:pt x="0" y="0"/>
                </a:lnTo>
                <a:close/>
              </a:path>
            </a:pathLst>
          </a:custGeom>
          <a:solidFill>
            <a:srgbClr val="14213D"/>
          </a:solidFill>
          <a:ln/>
        </p:spPr>
      </p:sp>
      <p:sp>
        <p:nvSpPr>
          <p:cNvPr id="14" name="Text 12"/>
          <p:cNvSpPr/>
          <p:nvPr/>
        </p:nvSpPr>
        <p:spPr>
          <a:xfrm>
            <a:off x="5391150" y="3700661"/>
            <a:ext cx="685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₹11.2M</a:t>
            </a:r>
            <a:endParaRPr lang="en-US" sz="1300" dirty="0"/>
          </a:p>
        </p:txBody>
      </p:sp>
      <p:sp>
        <p:nvSpPr>
          <p:cNvPr id="15" name="Text 13"/>
          <p:cNvSpPr/>
          <p:nvPr/>
        </p:nvSpPr>
        <p:spPr>
          <a:xfrm>
            <a:off x="1047750" y="4131221"/>
            <a:ext cx="2158365"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4213D"/>
                </a:solidFill>
                <a:latin typeface="DM Sans" pitchFamily="34" charset="0"/>
                <a:ea typeface="DM Sans" pitchFamily="34" charset="-122"/>
                <a:cs typeface="DM Sans" pitchFamily="34" charset="-120"/>
              </a:rPr>
              <a:t>Samsung Galaxy A02</a:t>
            </a:r>
            <a:endParaRPr lang="en-US" sz="1200" dirty="0"/>
          </a:p>
        </p:txBody>
      </p:sp>
      <p:sp>
        <p:nvSpPr>
          <p:cNvPr id="16" name="Shape 14"/>
          <p:cNvSpPr/>
          <p:nvPr/>
        </p:nvSpPr>
        <p:spPr>
          <a:xfrm>
            <a:off x="3244850" y="4095651"/>
            <a:ext cx="1644650" cy="254000"/>
          </a:xfrm>
          <a:custGeom>
            <a:avLst/>
            <a:gdLst/>
            <a:ahLst/>
            <a:cxnLst/>
            <a:rect l="l" t="t" r="r" b="b"/>
            <a:pathLst>
              <a:path w="1644650" h="254000">
                <a:moveTo>
                  <a:pt x="0" y="0"/>
                </a:moveTo>
                <a:lnTo>
                  <a:pt x="1593850" y="0"/>
                </a:lnTo>
                <a:arcTo hR="50800" wR="50800" stAng="16200000" swAng="5400000"/>
                <a:lnTo>
                  <a:pt x="1644650" y="203200"/>
                </a:lnTo>
                <a:arcTo hR="50800" wR="50800" stAng="0" swAng="5400000"/>
                <a:lnTo>
                  <a:pt x="0" y="254000"/>
                </a:lnTo>
                <a:lnTo>
                  <a:pt x="0" y="0"/>
                </a:lnTo>
                <a:close/>
              </a:path>
            </a:pathLst>
          </a:custGeom>
          <a:solidFill>
            <a:srgbClr val="14213D"/>
          </a:solidFill>
          <a:ln/>
        </p:spPr>
      </p:sp>
      <p:sp>
        <p:nvSpPr>
          <p:cNvPr id="17" name="Text 15"/>
          <p:cNvSpPr/>
          <p:nvPr/>
        </p:nvSpPr>
        <p:spPr>
          <a:xfrm>
            <a:off x="4991100" y="4107061"/>
            <a:ext cx="685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₹9.0M</a:t>
            </a:r>
            <a:endParaRPr lang="en-US" sz="1300" dirty="0"/>
          </a:p>
        </p:txBody>
      </p:sp>
      <p:sp>
        <p:nvSpPr>
          <p:cNvPr id="18" name="Text 16"/>
          <p:cNvSpPr/>
          <p:nvPr/>
        </p:nvSpPr>
        <p:spPr>
          <a:xfrm>
            <a:off x="1047750" y="4537621"/>
            <a:ext cx="2158365"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14213D"/>
                </a:solidFill>
                <a:latin typeface="DM Sans" pitchFamily="34" charset="0"/>
                <a:ea typeface="DM Sans" pitchFamily="34" charset="-122"/>
                <a:cs typeface="DM Sans" pitchFamily="34" charset="-120"/>
              </a:rPr>
              <a:t>Infinix Smart HD X612</a:t>
            </a:r>
            <a:endParaRPr lang="en-US" sz="1200" dirty="0"/>
          </a:p>
        </p:txBody>
      </p:sp>
      <p:sp>
        <p:nvSpPr>
          <p:cNvPr id="19" name="Shape 17"/>
          <p:cNvSpPr/>
          <p:nvPr/>
        </p:nvSpPr>
        <p:spPr>
          <a:xfrm>
            <a:off x="3244850" y="4502051"/>
            <a:ext cx="1149350" cy="254000"/>
          </a:xfrm>
          <a:custGeom>
            <a:avLst/>
            <a:gdLst/>
            <a:ahLst/>
            <a:cxnLst/>
            <a:rect l="l" t="t" r="r" b="b"/>
            <a:pathLst>
              <a:path w="1149350" h="254000">
                <a:moveTo>
                  <a:pt x="0" y="0"/>
                </a:moveTo>
                <a:lnTo>
                  <a:pt x="1098550" y="0"/>
                </a:lnTo>
                <a:arcTo hR="50800" wR="50800" stAng="16200000" swAng="5400000"/>
                <a:lnTo>
                  <a:pt x="1149350" y="203200"/>
                </a:lnTo>
                <a:arcTo hR="50800" wR="50800" stAng="0" swAng="5400000"/>
                <a:lnTo>
                  <a:pt x="0" y="254000"/>
                </a:lnTo>
                <a:lnTo>
                  <a:pt x="0" y="0"/>
                </a:lnTo>
                <a:close/>
              </a:path>
            </a:pathLst>
          </a:custGeom>
          <a:solidFill>
            <a:srgbClr val="14213D"/>
          </a:solidFill>
          <a:ln/>
        </p:spPr>
      </p:sp>
      <p:sp>
        <p:nvSpPr>
          <p:cNvPr id="20" name="Text 18"/>
          <p:cNvSpPr/>
          <p:nvPr/>
        </p:nvSpPr>
        <p:spPr>
          <a:xfrm>
            <a:off x="4495800" y="4513461"/>
            <a:ext cx="685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₹6.3M</a:t>
            </a:r>
            <a:endParaRPr lang="en-US" sz="1300" dirty="0"/>
          </a:p>
        </p:txBody>
      </p:sp>
      <p:sp>
        <p:nvSpPr>
          <p:cNvPr id="21" name="Text 19"/>
          <p:cNvSpPr/>
          <p:nvPr/>
        </p:nvSpPr>
        <p:spPr>
          <a:xfrm>
            <a:off x="7425035" y="2278955"/>
            <a:ext cx="3950990" cy="1031180"/>
          </a:xfrm>
          <a:prstGeom prst="roundRect">
            <a:avLst>
              <a:gd name="adj" fmla="val 9545"/>
            </a:avLst>
          </a:prstGeom>
          <a:solidFill>
            <a:srgbClr val="FFFFFF"/>
          </a:solidFill>
          <a:ln w="6350">
            <a:solidFill>
              <a:srgbClr val="E2DED2"/>
            </a:solidFill>
            <a:prstDash val="solid"/>
          </a:ln>
        </p:spPr>
        <p:txBody>
          <a:bodyPr wrap="square" lIns="152147" tIns="126747" rIns="44476" bIns="101347" rtlCol="0" anchor="t">
            <a:normAutofit/>
          </a:bodyPr>
          <a:lstStyle/>
          <a:p>
            <a:pPr algn="l" indent="0" marL="0">
              <a:lnSpc>
                <a:spcPts val="1890"/>
              </a:lnSpc>
              <a:buNone/>
            </a:pPr>
            <a:r>
              <a:rPr lang="en-US" sz="1400" b="1" dirty="0">
                <a:solidFill>
                  <a:srgbClr val="14213D"/>
                </a:solidFill>
                <a:latin typeface="DM Sans" pitchFamily="34" charset="0"/>
                <a:ea typeface="DM Sans" pitchFamily="34" charset="-122"/>
                <a:cs typeface="DM Sans" pitchFamily="34" charset="-120"/>
              </a:rPr>
              <a:t>Low volume.</a:t>
            </a:r>
            <a:r>
              <a:rPr lang="en-US" sz="1400" dirty="0">
                <a:solidFill>
                  <a:srgbClr val="14213D"/>
                </a:solidFill>
                <a:latin typeface="DM Sans" pitchFamily="34" charset="0"/>
                <a:ea typeface="DM Sans" pitchFamily="34" charset="-122"/>
                <a:cs typeface="DM Sans" pitchFamily="34" charset="-120"/>
              </a:rPr>
              <a:t> The 60D bundle sold 2.6K units, the lowest in the catalog. The 600D sold 5.1K. The rest sell 13K or more.</a:t>
            </a:r>
            <a:endParaRPr lang="en-US" sz="1400" dirty="0"/>
          </a:p>
        </p:txBody>
      </p:sp>
      <p:sp>
        <p:nvSpPr>
          <p:cNvPr id="22" name="Text 20"/>
          <p:cNvSpPr/>
          <p:nvPr/>
        </p:nvSpPr>
        <p:spPr>
          <a:xfrm>
            <a:off x="7425035" y="3443486"/>
            <a:ext cx="3950990" cy="791170"/>
          </a:xfrm>
          <a:prstGeom prst="roundRect">
            <a:avLst>
              <a:gd name="adj" fmla="val 12440"/>
            </a:avLst>
          </a:prstGeom>
          <a:solidFill>
            <a:srgbClr val="FFFFFF"/>
          </a:solidFill>
          <a:ln w="6350">
            <a:solidFill>
              <a:srgbClr val="E2DED2"/>
            </a:solidFill>
            <a:prstDash val="solid"/>
          </a:ln>
        </p:spPr>
        <p:txBody>
          <a:bodyPr wrap="square" lIns="152147" tIns="126747" rIns="44476" bIns="101347" rtlCol="0" anchor="t">
            <a:normAutofit/>
          </a:bodyPr>
          <a:lstStyle/>
          <a:p>
            <a:pPr algn="l" indent="0" marL="0">
              <a:lnSpc>
                <a:spcPts val="1890"/>
              </a:lnSpc>
              <a:buNone/>
            </a:pPr>
            <a:r>
              <a:rPr lang="en-US" sz="1400" b="1" dirty="0">
                <a:solidFill>
                  <a:srgbClr val="14213D"/>
                </a:solidFill>
                <a:latin typeface="DM Sans" pitchFamily="34" charset="0"/>
                <a:ea typeface="DM Sans" pitchFamily="34" charset="-122"/>
                <a:cs typeface="DM Sans" pitchFamily="34" charset="-120"/>
              </a:rPr>
              <a:t>High value.</a:t>
            </a:r>
            <a:r>
              <a:rPr lang="en-US" sz="1400" dirty="0">
                <a:solidFill>
                  <a:srgbClr val="14213D"/>
                </a:solidFill>
                <a:latin typeface="DM Sans" pitchFamily="34" charset="0"/>
                <a:ea typeface="DM Sans" pitchFamily="34" charset="-122"/>
                <a:cs typeface="DM Sans" pitchFamily="34" charset="-120"/>
              </a:rPr>
              <a:t> Each unit is premium, so a small price cut can lower the barrier.</a:t>
            </a:r>
            <a:endParaRPr lang="en-US" sz="1400" dirty="0"/>
          </a:p>
        </p:txBody>
      </p:sp>
      <p:sp>
        <p:nvSpPr>
          <p:cNvPr id="23" name="Text 21"/>
          <p:cNvSpPr/>
          <p:nvPr/>
        </p:nvSpPr>
        <p:spPr>
          <a:xfrm>
            <a:off x="7421860" y="4364831"/>
            <a:ext cx="3957340" cy="784820"/>
          </a:xfrm>
          <a:prstGeom prst="roundRect">
            <a:avLst>
              <a:gd name="adj" fmla="val 12946"/>
            </a:avLst>
          </a:prstGeom>
          <a:solidFill>
            <a:srgbClr val="14213D"/>
          </a:solidFill>
          <a:ln/>
        </p:spPr>
        <p:txBody>
          <a:bodyPr wrap="square" lIns="148042" tIns="122642" rIns="39990" bIns="97242" rtlCol="0" anchor="t">
            <a:normAutofit/>
          </a:bodyPr>
          <a:lstStyle/>
          <a:p>
            <a:pPr algn="l" indent="0" marL="0">
              <a:lnSpc>
                <a:spcPts val="1890"/>
              </a:lnSpc>
              <a:buNone/>
            </a:pPr>
            <a:r>
              <a:rPr lang="en-US" sz="1400" b="1" dirty="0">
                <a:solidFill>
                  <a:srgbClr val="F5A623"/>
                </a:solidFill>
                <a:latin typeface="DM Sans" pitchFamily="34" charset="0"/>
                <a:ea typeface="DM Sans" pitchFamily="34" charset="-122"/>
                <a:cs typeface="DM Sans" pitchFamily="34" charset="-120"/>
              </a:rPr>
              <a:t>Action.</a:t>
            </a:r>
            <a:r>
              <a:rPr lang="en-US" sz="1400" dirty="0">
                <a:solidFill>
                  <a:srgbClr val="F6F4EE"/>
                </a:solidFill>
                <a:latin typeface="DM Sans" pitchFamily="34" charset="0"/>
                <a:ea typeface="DM Sans" pitchFamily="34" charset="-122"/>
                <a:cs typeface="DM Sans" pitchFamily="34" charset="-120"/>
              </a:rPr>
              <a:t> Offer 5 to 10% off, then track units before extending it.</a:t>
            </a:r>
            <a:endParaRPr lang="en-US" sz="1400" dirty="0"/>
          </a:p>
        </p:txBody>
      </p:sp>
      <p:sp>
        <p:nvSpPr>
          <p:cNvPr id="24" name="Text 2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Revenue in ₹M</a:t>
            </a:r>
            <a:endParaRPr lang="en-US" sz="1200" dirty="0"/>
          </a:p>
        </p:txBody>
      </p:sp>
      <p:sp>
        <p:nvSpPr>
          <p:cNvPr id="25" name="Text 2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LOYALTY PROGRAM</a:t>
            </a:r>
            <a:endParaRPr lang="en-US" sz="1200" dirty="0"/>
          </a:p>
        </p:txBody>
      </p:sp>
      <p:sp>
        <p:nvSpPr>
          <p:cNvPr id="3" name="Text 1"/>
          <p:cNvSpPr/>
          <p:nvPr>
            <p:ph type="title"/>
          </p:nvPr>
        </p:nvSpPr>
        <p:spPr>
          <a:xfrm>
            <a:off x="812800" y="1127720"/>
            <a:ext cx="9810750"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A three-tier program based on spend</a:t>
            </a:r>
            <a:endParaRPr lang="en-US" sz="3200" dirty="0"/>
          </a:p>
        </p:txBody>
      </p:sp>
      <p:sp>
        <p:nvSpPr>
          <p:cNvPr id="4" name="Shape 2"/>
          <p:cNvSpPr/>
          <p:nvPr/>
        </p:nvSpPr>
        <p:spPr>
          <a:xfrm>
            <a:off x="815975" y="1781125"/>
            <a:ext cx="3397250" cy="2183011"/>
          </a:xfrm>
          <a:prstGeom prst="roundRect">
            <a:avLst>
              <a:gd name="adj" fmla="val 4509"/>
            </a:avLst>
          </a:prstGeom>
          <a:solidFill>
            <a:srgbClr val="FFFFFF"/>
          </a:solidFill>
          <a:ln w="6350">
            <a:solidFill>
              <a:srgbClr val="E2DED2"/>
            </a:solidFill>
            <a:prstDash val="solid"/>
          </a:ln>
        </p:spPr>
      </p:sp>
      <p:sp>
        <p:nvSpPr>
          <p:cNvPr id="5" name="Text 3"/>
          <p:cNvSpPr/>
          <p:nvPr/>
        </p:nvSpPr>
        <p:spPr>
          <a:xfrm>
            <a:off x="1022350" y="1962100"/>
            <a:ext cx="307403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DM Sans" pitchFamily="34" charset="0"/>
                <a:ea typeface="DM Sans" pitchFamily="34" charset="-122"/>
                <a:cs typeface="DM Sans" pitchFamily="34" charset="-120"/>
              </a:rPr>
              <a:t>Gold</a:t>
            </a:r>
            <a:endParaRPr lang="en-US" sz="2000" dirty="0"/>
          </a:p>
        </p:txBody>
      </p:sp>
      <p:sp>
        <p:nvSpPr>
          <p:cNvPr id="6" name="Text 4"/>
          <p:cNvSpPr/>
          <p:nvPr/>
        </p:nvSpPr>
        <p:spPr>
          <a:xfrm>
            <a:off x="1022350" y="2406600"/>
            <a:ext cx="3074035"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475"/>
                </a:solidFill>
                <a:latin typeface="DM Sans" pitchFamily="34" charset="0"/>
                <a:ea typeface="DM Sans" pitchFamily="34" charset="-122"/>
                <a:cs typeface="DM Sans" pitchFamily="34" charset="-120"/>
              </a:rPr>
              <a:t>Revenue more than 30% above the average customer</a:t>
            </a:r>
            <a:endParaRPr lang="en-US" sz="1300" dirty="0"/>
          </a:p>
        </p:txBody>
      </p:sp>
      <p:sp>
        <p:nvSpPr>
          <p:cNvPr id="7" name="Text 5"/>
          <p:cNvSpPr/>
          <p:nvPr/>
        </p:nvSpPr>
        <p:spPr>
          <a:xfrm>
            <a:off x="1114044" y="2924721"/>
            <a:ext cx="2974721" cy="883841"/>
          </a:xfrm>
          <a:prstGeom prst="rect">
            <a:avLst/>
          </a:prstGeom>
          <a:noFill/>
          <a:ln/>
        </p:spPr>
        <p:txBody>
          <a:bodyPr wrap="square" lIns="0" tIns="0" rIns="0" bIns="0" rtlCol="0" anchor="t">
            <a:normAutofit/>
          </a:bodyPr>
          <a:lstStyle/>
          <a:p>
            <a:pPr algn="l" marL="162306" indent="-162306">
              <a:lnSpc>
                <a:spcPts val="1690"/>
              </a:lnSpc>
              <a:buSzPct val="100000"/>
              <a:buChar char="•"/>
            </a:pPr>
            <a:r>
              <a:rPr lang="en-US" sz="1300" dirty="0">
                <a:solidFill>
                  <a:srgbClr val="14213D"/>
                </a:solidFill>
                <a:latin typeface="DM Sans" pitchFamily="34" charset="0"/>
                <a:ea typeface="DM Sans" pitchFamily="34" charset="-122"/>
                <a:cs typeface="DM Sans" pitchFamily="34" charset="-120"/>
              </a:rPr>
              <a:t>Early access to launches</a:t>
            </a:r>
            <a:endParaRPr lang="en-US" sz="1300" dirty="0"/>
          </a:p>
          <a:p>
            <a:pPr algn="l" marL="162306" indent="-162306">
              <a:lnSpc>
                <a:spcPts val="1690"/>
              </a:lnSpc>
              <a:buSzPct val="100000"/>
              <a:buChar char="•"/>
            </a:pPr>
            <a:r>
              <a:rPr lang="en-US" sz="1300" dirty="0">
                <a:solidFill>
                  <a:srgbClr val="14213D"/>
                </a:solidFill>
                <a:latin typeface="DM Sans" pitchFamily="34" charset="0"/>
                <a:ea typeface="DM Sans" pitchFamily="34" charset="-122"/>
                <a:cs typeface="DM Sans" pitchFamily="34" charset="-120"/>
              </a:rPr>
              <a:t>Free or expedited shipping</a:t>
            </a:r>
            <a:endParaRPr lang="en-US" sz="1300" dirty="0"/>
          </a:p>
          <a:p>
            <a:pPr algn="l" marL="162306" indent="-162306">
              <a:lnSpc>
                <a:spcPts val="1690"/>
              </a:lnSpc>
              <a:buSzPct val="100000"/>
              <a:buChar char="•"/>
            </a:pPr>
            <a:r>
              <a:rPr lang="en-US" sz="1300" dirty="0">
                <a:solidFill>
                  <a:srgbClr val="14213D"/>
                </a:solidFill>
                <a:latin typeface="DM Sans" pitchFamily="34" charset="0"/>
                <a:ea typeface="DM Sans" pitchFamily="34" charset="-122"/>
                <a:cs typeface="DM Sans" pitchFamily="34" charset="-120"/>
              </a:rPr>
              <a:t>Dedicated discount code and priority support</a:t>
            </a:r>
            <a:endParaRPr lang="en-US" sz="1300" dirty="0"/>
          </a:p>
        </p:txBody>
      </p:sp>
      <p:sp>
        <p:nvSpPr>
          <p:cNvPr id="8" name="Shape 6"/>
          <p:cNvSpPr/>
          <p:nvPr/>
        </p:nvSpPr>
        <p:spPr>
          <a:xfrm>
            <a:off x="4397375" y="1781125"/>
            <a:ext cx="3397250" cy="2183011"/>
          </a:xfrm>
          <a:prstGeom prst="roundRect">
            <a:avLst>
              <a:gd name="adj" fmla="val 4509"/>
            </a:avLst>
          </a:prstGeom>
          <a:solidFill>
            <a:srgbClr val="FFFFFF"/>
          </a:solidFill>
          <a:ln w="6350">
            <a:solidFill>
              <a:srgbClr val="E2DED2"/>
            </a:solidFill>
            <a:prstDash val="solid"/>
          </a:ln>
        </p:spPr>
      </p:sp>
      <p:sp>
        <p:nvSpPr>
          <p:cNvPr id="9" name="Text 7"/>
          <p:cNvSpPr/>
          <p:nvPr/>
        </p:nvSpPr>
        <p:spPr>
          <a:xfrm>
            <a:off x="4603750" y="1962100"/>
            <a:ext cx="307403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DM Sans" pitchFamily="34" charset="0"/>
                <a:ea typeface="DM Sans" pitchFamily="34" charset="-122"/>
                <a:cs typeface="DM Sans" pitchFamily="34" charset="-120"/>
              </a:rPr>
              <a:t>Silver</a:t>
            </a:r>
            <a:endParaRPr lang="en-US" sz="2000" dirty="0"/>
          </a:p>
        </p:txBody>
      </p:sp>
      <p:sp>
        <p:nvSpPr>
          <p:cNvPr id="10" name="Text 8"/>
          <p:cNvSpPr/>
          <p:nvPr/>
        </p:nvSpPr>
        <p:spPr>
          <a:xfrm>
            <a:off x="4603750" y="2406600"/>
            <a:ext cx="3074035"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475"/>
                </a:solidFill>
                <a:latin typeface="DM Sans" pitchFamily="34" charset="0"/>
                <a:ea typeface="DM Sans" pitchFamily="34" charset="-122"/>
                <a:cs typeface="DM Sans" pitchFamily="34" charset="-120"/>
              </a:rPr>
              <a:t>At or above average, below the Gold line</a:t>
            </a:r>
            <a:endParaRPr lang="en-US" sz="1300" dirty="0"/>
          </a:p>
        </p:txBody>
      </p:sp>
      <p:sp>
        <p:nvSpPr>
          <p:cNvPr id="11" name="Text 9"/>
          <p:cNvSpPr/>
          <p:nvPr/>
        </p:nvSpPr>
        <p:spPr>
          <a:xfrm>
            <a:off x="4695444" y="2924721"/>
            <a:ext cx="2974721" cy="669230"/>
          </a:xfrm>
          <a:prstGeom prst="rect">
            <a:avLst/>
          </a:prstGeom>
          <a:noFill/>
          <a:ln/>
        </p:spPr>
        <p:txBody>
          <a:bodyPr wrap="square" lIns="0" tIns="0" rIns="0" bIns="0" rtlCol="0" anchor="t">
            <a:normAutofit/>
          </a:bodyPr>
          <a:lstStyle/>
          <a:p>
            <a:pPr algn="l" marL="162306" indent="-162306">
              <a:lnSpc>
                <a:spcPts val="1690"/>
              </a:lnSpc>
              <a:buSzPct val="100000"/>
              <a:buChar char="•"/>
            </a:pPr>
            <a:r>
              <a:rPr lang="en-US" sz="1300" dirty="0">
                <a:solidFill>
                  <a:srgbClr val="14213D"/>
                </a:solidFill>
                <a:latin typeface="DM Sans" pitchFamily="34" charset="0"/>
                <a:ea typeface="DM Sans" pitchFamily="34" charset="-122"/>
                <a:cs typeface="DM Sans" pitchFamily="34" charset="-120"/>
              </a:rPr>
              <a:t>Discount on their top category</a:t>
            </a:r>
            <a:endParaRPr lang="en-US" sz="1300" dirty="0"/>
          </a:p>
          <a:p>
            <a:pPr algn="l" marL="162306" indent="-162306">
              <a:lnSpc>
                <a:spcPts val="1690"/>
              </a:lnSpc>
              <a:buSzPct val="100000"/>
              <a:buChar char="•"/>
            </a:pPr>
            <a:r>
              <a:rPr lang="en-US" sz="1300" dirty="0">
                <a:solidFill>
                  <a:srgbClr val="14213D"/>
                </a:solidFill>
                <a:latin typeface="DM Sans" pitchFamily="34" charset="0"/>
                <a:ea typeface="DM Sans" pitchFamily="34" charset="-122"/>
                <a:cs typeface="DM Sans" pitchFamily="34" charset="-120"/>
              </a:rPr>
              <a:t>Birthday offers</a:t>
            </a:r>
            <a:endParaRPr lang="en-US" sz="1300" dirty="0"/>
          </a:p>
          <a:p>
            <a:pPr algn="l" marL="162306" indent="-162306">
              <a:lnSpc>
                <a:spcPts val="1690"/>
              </a:lnSpc>
              <a:buSzPct val="100000"/>
              <a:buChar char="•"/>
            </a:pPr>
            <a:r>
              <a:rPr lang="en-US" sz="1300" dirty="0">
                <a:solidFill>
                  <a:srgbClr val="14213D"/>
                </a:solidFill>
                <a:latin typeface="DM Sans" pitchFamily="34" charset="0"/>
                <a:ea typeface="DM Sans" pitchFamily="34" charset="-122"/>
                <a:cs typeface="DM Sans" pitchFamily="34" charset="-120"/>
              </a:rPr>
              <a:t>Free-shipping threshold</a:t>
            </a:r>
            <a:endParaRPr lang="en-US" sz="1300" dirty="0"/>
          </a:p>
        </p:txBody>
      </p:sp>
      <p:sp>
        <p:nvSpPr>
          <p:cNvPr id="12" name="Shape 10"/>
          <p:cNvSpPr/>
          <p:nvPr/>
        </p:nvSpPr>
        <p:spPr>
          <a:xfrm>
            <a:off x="7978775" y="1781125"/>
            <a:ext cx="3397250" cy="2183011"/>
          </a:xfrm>
          <a:prstGeom prst="roundRect">
            <a:avLst>
              <a:gd name="adj" fmla="val 4509"/>
            </a:avLst>
          </a:prstGeom>
          <a:solidFill>
            <a:srgbClr val="FFFFFF"/>
          </a:solidFill>
          <a:ln w="6350">
            <a:solidFill>
              <a:srgbClr val="E2DED2"/>
            </a:solidFill>
            <a:prstDash val="solid"/>
          </a:ln>
        </p:spPr>
      </p:sp>
      <p:sp>
        <p:nvSpPr>
          <p:cNvPr id="13" name="Text 11"/>
          <p:cNvSpPr/>
          <p:nvPr/>
        </p:nvSpPr>
        <p:spPr>
          <a:xfrm>
            <a:off x="8185150" y="1962100"/>
            <a:ext cx="307403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DM Sans" pitchFamily="34" charset="0"/>
                <a:ea typeface="DM Sans" pitchFamily="34" charset="-122"/>
                <a:cs typeface="DM Sans" pitchFamily="34" charset="-120"/>
              </a:rPr>
              <a:t>Bronze</a:t>
            </a:r>
            <a:endParaRPr lang="en-US" sz="2000" dirty="0"/>
          </a:p>
        </p:txBody>
      </p:sp>
      <p:sp>
        <p:nvSpPr>
          <p:cNvPr id="14" name="Text 12"/>
          <p:cNvSpPr/>
          <p:nvPr/>
        </p:nvSpPr>
        <p:spPr>
          <a:xfrm>
            <a:off x="8185150" y="2406600"/>
            <a:ext cx="31877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B6475"/>
                </a:solidFill>
                <a:latin typeface="DM Sans" pitchFamily="34" charset="0"/>
                <a:ea typeface="DM Sans" pitchFamily="34" charset="-122"/>
                <a:cs typeface="DM Sans" pitchFamily="34" charset="-120"/>
              </a:rPr>
              <a:t>Spending below the average customer</a:t>
            </a:r>
            <a:endParaRPr lang="en-US" sz="1300" dirty="0"/>
          </a:p>
        </p:txBody>
      </p:sp>
      <p:sp>
        <p:nvSpPr>
          <p:cNvPr id="15" name="Text 13"/>
          <p:cNvSpPr/>
          <p:nvPr/>
        </p:nvSpPr>
        <p:spPr>
          <a:xfrm>
            <a:off x="8276844" y="2710111"/>
            <a:ext cx="2974721" cy="883841"/>
          </a:xfrm>
          <a:prstGeom prst="rect">
            <a:avLst/>
          </a:prstGeom>
          <a:noFill/>
          <a:ln/>
        </p:spPr>
        <p:txBody>
          <a:bodyPr wrap="square" lIns="0" tIns="0" rIns="0" bIns="0" rtlCol="0" anchor="t">
            <a:normAutofit/>
          </a:bodyPr>
          <a:lstStyle/>
          <a:p>
            <a:pPr algn="l" marL="162306" indent="-162306">
              <a:lnSpc>
                <a:spcPts val="1690"/>
              </a:lnSpc>
              <a:buSzPct val="100000"/>
              <a:buChar char="•"/>
            </a:pPr>
            <a:r>
              <a:rPr lang="en-US" sz="1300" dirty="0">
                <a:solidFill>
                  <a:srgbClr val="14213D"/>
                </a:solidFill>
                <a:latin typeface="DM Sans" pitchFamily="34" charset="0"/>
                <a:ea typeface="DM Sans" pitchFamily="34" charset="-122"/>
                <a:cs typeface="DM Sans" pitchFamily="34" charset="-120"/>
              </a:rPr>
              <a:t>Welcome discount for a second order</a:t>
            </a:r>
            <a:endParaRPr lang="en-US" sz="1300" dirty="0"/>
          </a:p>
          <a:p>
            <a:pPr algn="l" marL="162306" indent="-162306">
              <a:lnSpc>
                <a:spcPts val="1690"/>
              </a:lnSpc>
              <a:buSzPct val="100000"/>
              <a:buChar char="•"/>
            </a:pPr>
            <a:r>
              <a:rPr lang="en-US" sz="1300" dirty="0">
                <a:solidFill>
                  <a:srgbClr val="14213D"/>
                </a:solidFill>
                <a:latin typeface="DM Sans" pitchFamily="34" charset="0"/>
                <a:ea typeface="DM Sans" pitchFamily="34" charset="-122"/>
                <a:cs typeface="DM Sans" pitchFamily="34" charset="-120"/>
              </a:rPr>
              <a:t>Promotions in June and September</a:t>
            </a:r>
            <a:endParaRPr lang="en-US" sz="1300" dirty="0"/>
          </a:p>
          <a:p>
            <a:pPr algn="l" marL="162306" indent="-162306">
              <a:lnSpc>
                <a:spcPts val="1690"/>
              </a:lnSpc>
              <a:buSzPct val="100000"/>
              <a:buChar char="•"/>
            </a:pPr>
            <a:r>
              <a:rPr lang="en-US" sz="1300" dirty="0">
                <a:solidFill>
                  <a:srgbClr val="14213D"/>
                </a:solidFill>
                <a:latin typeface="DM Sans" pitchFamily="34" charset="0"/>
                <a:ea typeface="DM Sans" pitchFamily="34" charset="-122"/>
                <a:cs typeface="DM Sans" pitchFamily="34" charset="-120"/>
              </a:rPr>
              <a:t>Category offers to lift order value</a:t>
            </a:r>
            <a:endParaRPr lang="en-US" sz="1300" dirty="0"/>
          </a:p>
        </p:txBody>
      </p:sp>
      <p:sp>
        <p:nvSpPr>
          <p:cNvPr id="16" name="Text 14"/>
          <p:cNvSpPr/>
          <p:nvPr/>
        </p:nvSpPr>
        <p:spPr>
          <a:xfrm>
            <a:off x="812800" y="4170511"/>
            <a:ext cx="10566400" cy="725091"/>
          </a:xfrm>
          <a:prstGeom prst="roundRect">
            <a:avLst>
              <a:gd name="adj" fmla="val 14012"/>
            </a:avLst>
          </a:prstGeom>
          <a:solidFill>
            <a:srgbClr val="14213D"/>
          </a:solidFill>
          <a:ln/>
        </p:spPr>
        <p:txBody>
          <a:bodyPr wrap="square" lIns="173442" tIns="109942" rIns="0" bIns="84542" rtlCol="0" anchor="t">
            <a:normAutofit/>
          </a:bodyPr>
          <a:lstStyle/>
          <a:p>
            <a:pPr algn="l" indent="0" marL="0">
              <a:lnSpc>
                <a:spcPts val="1755"/>
              </a:lnSpc>
              <a:buNone/>
            </a:pPr>
            <a:r>
              <a:rPr lang="en-US" sz="1300" b="1" dirty="0">
                <a:solidFill>
                  <a:srgbClr val="F5A623"/>
                </a:solidFill>
                <a:latin typeface="DM Sans" pitchFamily="34" charset="0"/>
                <a:ea typeface="DM Sans" pitchFamily="34" charset="-122"/>
                <a:cs typeface="DM Sans" pitchFamily="34" charset="-120"/>
              </a:rPr>
              <a:t>Why spend, not frequency.</a:t>
            </a:r>
            <a:r>
              <a:rPr lang="en-US" sz="1300" dirty="0">
                <a:solidFill>
                  <a:srgbClr val="F6F4EE"/>
                </a:solidFill>
                <a:latin typeface="DM Sans" pitchFamily="34" charset="0"/>
                <a:ea typeface="DM Sans" pitchFamily="34" charset="-122"/>
                <a:cs typeface="DM Sans" pitchFamily="34" charset="-120"/>
              </a:rPr>
              <a:t> Every customer placed exactly one order, so repeat buying can’t be measured yet. The first goal is a second order.</a:t>
            </a:r>
            <a:endParaRPr lang="en-US" sz="13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Amazon E-Commerce · Power BI capstone</a:t>
            </a:r>
            <a:endParaRPr lang="en-US" sz="1200" dirty="0"/>
          </a:p>
        </p:txBody>
      </p:sp>
      <p:sp>
        <p:nvSpPr>
          <p:cNvPr id="18"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DASHBOARD TOUR · 1 OF 3</a:t>
            </a:r>
            <a:endParaRPr lang="en-US" sz="1200" dirty="0"/>
          </a:p>
        </p:txBody>
      </p:sp>
      <p:sp>
        <p:nvSpPr>
          <p:cNvPr id="3" name="Text 1"/>
          <p:cNvSpPr/>
          <p:nvPr>
            <p:ph type="title"/>
          </p:nvPr>
        </p:nvSpPr>
        <p:spPr>
          <a:xfrm>
            <a:off x="812800" y="1102320"/>
            <a:ext cx="9810750"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Main tab: the whole business at a glance</a:t>
            </a:r>
            <a:endParaRPr lang="en-US" sz="3200" dirty="0"/>
          </a:p>
        </p:txBody>
      </p:sp>
      <p:sp>
        <p:nvSpPr>
          <p:cNvPr id="4" name="Shape 2"/>
          <p:cNvSpPr/>
          <p:nvPr/>
        </p:nvSpPr>
        <p:spPr>
          <a:xfrm>
            <a:off x="812800" y="1727150"/>
            <a:ext cx="6985000" cy="3943350"/>
          </a:xfrm>
          <a:prstGeom prst="roundRect">
            <a:avLst>
              <a:gd name="adj" fmla="val 1932"/>
            </a:avLst>
          </a:prstGeom>
          <a:solidFill>
            <a:srgbClr val="FFFFFF"/>
          </a:solidFill>
          <a:ln/>
        </p:spPr>
      </p:sp>
      <p:pic>
        <p:nvPicPr>
          <p:cNvPr id="5" name="Image 0" descr="Main tab of the Power BI dashboard with four KPI cards, a satisfaction donut, a revenue trend by year and sales by category">    </p:cNvPr>
          <p:cNvPicPr>
            <a:picLocks noChangeAspect="1"/>
          </p:cNvPicPr>
          <p:nvPr/>
        </p:nvPicPr>
        <p:blipFill>
          <a:blip r:embed="rId1"/>
          <a:srcRect l="-102" r="-102" t="0" b="0"/>
          <a:stretch/>
        </p:blipFill>
        <p:spPr>
          <a:xfrm>
            <a:off x="819150" y="1733500"/>
            <a:ext cx="6972300" cy="3930650"/>
          </a:xfrm>
          <a:prstGeom prst="roundRect">
            <a:avLst>
              <a:gd name="adj" fmla="val 1777"/>
            </a:avLst>
          </a:prstGeom>
        </p:spPr>
      </p:pic>
      <p:sp>
        <p:nvSpPr>
          <p:cNvPr id="6" name="Shape 3"/>
          <p:cNvSpPr/>
          <p:nvPr/>
        </p:nvSpPr>
        <p:spPr>
          <a:xfrm>
            <a:off x="815975" y="1730325"/>
            <a:ext cx="6978650" cy="3937000"/>
          </a:xfrm>
          <a:prstGeom prst="roundRect">
            <a:avLst>
              <a:gd name="adj" fmla="val 1855"/>
            </a:avLst>
          </a:prstGeom>
          <a:noFill/>
          <a:ln w="6350">
            <a:solidFill>
              <a:srgbClr val="E2DED2"/>
            </a:solidFill>
            <a:prstDash val="solid"/>
          </a:ln>
        </p:spPr>
      </p:sp>
      <p:sp>
        <p:nvSpPr>
          <p:cNvPr id="7" name="Text 4"/>
          <p:cNvSpPr/>
          <p:nvPr/>
        </p:nvSpPr>
        <p:spPr>
          <a:xfrm>
            <a:off x="8004175" y="1730325"/>
            <a:ext cx="3371850" cy="689570"/>
          </a:xfrm>
          <a:prstGeom prst="roundRect">
            <a:avLst>
              <a:gd name="adj" fmla="val 12432"/>
            </a:avLst>
          </a:prstGeom>
          <a:solidFill>
            <a:srgbClr val="FFFFFF"/>
          </a:solidFill>
          <a:ln w="6350">
            <a:solidFill>
              <a:srgbClr val="E2DED2"/>
            </a:solidFill>
            <a:prstDash val="solid"/>
          </a:ln>
        </p:spPr>
        <p:txBody>
          <a:bodyPr wrap="square" lIns="130467" tIns="105067" rIns="38646" bIns="79667" rtlCol="0" anchor="t">
            <a:normAutofit/>
          </a:bodyPr>
          <a:lstStyle/>
          <a:p>
            <a:pPr algn="l" indent="0" marL="0">
              <a:lnSpc>
                <a:spcPts val="1690"/>
              </a:lnSpc>
              <a:buNone/>
            </a:pPr>
            <a:r>
              <a:rPr lang="en-US" sz="1300" b="1" dirty="0">
                <a:solidFill>
                  <a:srgbClr val="14213D"/>
                </a:solidFill>
                <a:latin typeface="DM Sans" pitchFamily="34" charset="0"/>
                <a:ea typeface="DM Sans" pitchFamily="34" charset="-122"/>
                <a:cs typeface="DM Sans" pitchFamily="34" charset="-120"/>
              </a:rPr>
              <a:t>Four KPI cards:</a:t>
            </a:r>
            <a:r>
              <a:rPr lang="en-US" sz="1300" dirty="0">
                <a:solidFill>
                  <a:srgbClr val="14213D"/>
                </a:solidFill>
                <a:latin typeface="DM Sans" pitchFamily="34" charset="0"/>
                <a:ea typeface="DM Sans" pitchFamily="34" charset="-122"/>
                <a:cs typeface="DM Sans" pitchFamily="34" charset="-120"/>
              </a:rPr>
              <a:t> units, revenue, customers, rating</a:t>
            </a:r>
            <a:endParaRPr lang="en-US" sz="1300" dirty="0"/>
          </a:p>
        </p:txBody>
      </p:sp>
      <p:sp>
        <p:nvSpPr>
          <p:cNvPr id="8" name="Text 5"/>
          <p:cNvSpPr/>
          <p:nvPr/>
        </p:nvSpPr>
        <p:spPr>
          <a:xfrm>
            <a:off x="8004175" y="2527846"/>
            <a:ext cx="3371850" cy="689570"/>
          </a:xfrm>
          <a:prstGeom prst="roundRect">
            <a:avLst>
              <a:gd name="adj" fmla="val 12432"/>
            </a:avLst>
          </a:prstGeom>
          <a:solidFill>
            <a:srgbClr val="FFFFFF"/>
          </a:solidFill>
          <a:ln w="6350">
            <a:solidFill>
              <a:srgbClr val="E2DED2"/>
            </a:solidFill>
            <a:prstDash val="solid"/>
          </a:ln>
        </p:spPr>
        <p:txBody>
          <a:bodyPr wrap="square" lIns="130467" tIns="105067" rIns="38646" bIns="79667" rtlCol="0" anchor="t">
            <a:normAutofit/>
          </a:bodyPr>
          <a:lstStyle/>
          <a:p>
            <a:pPr algn="l" indent="0" marL="0">
              <a:lnSpc>
                <a:spcPts val="1690"/>
              </a:lnSpc>
              <a:buNone/>
            </a:pPr>
            <a:r>
              <a:rPr lang="en-US" sz="1300" b="1" dirty="0">
                <a:solidFill>
                  <a:srgbClr val="14213D"/>
                </a:solidFill>
                <a:latin typeface="DM Sans" pitchFamily="34" charset="0"/>
                <a:ea typeface="DM Sans" pitchFamily="34" charset="-122"/>
                <a:cs typeface="DM Sans" pitchFamily="34" charset="-120"/>
              </a:rPr>
              <a:t>Three charts:</a:t>
            </a:r>
            <a:r>
              <a:rPr lang="en-US" sz="1300" dirty="0">
                <a:solidFill>
                  <a:srgbClr val="14213D"/>
                </a:solidFill>
                <a:latin typeface="DM Sans" pitchFamily="34" charset="0"/>
                <a:ea typeface="DM Sans" pitchFamily="34" charset="-122"/>
                <a:cs typeface="DM Sans" pitchFamily="34" charset="-120"/>
              </a:rPr>
              <a:t> satisfaction by category, revenue by year, sales by category</a:t>
            </a:r>
            <a:endParaRPr lang="en-US" sz="1300" dirty="0"/>
          </a:p>
        </p:txBody>
      </p:sp>
      <p:sp>
        <p:nvSpPr>
          <p:cNvPr id="9" name="Text 6"/>
          <p:cNvSpPr/>
          <p:nvPr/>
        </p:nvSpPr>
        <p:spPr>
          <a:xfrm>
            <a:off x="8004175" y="3325366"/>
            <a:ext cx="3371850" cy="474960"/>
          </a:xfrm>
          <a:prstGeom prst="roundRect">
            <a:avLst>
              <a:gd name="adj" fmla="val 18049"/>
            </a:avLst>
          </a:prstGeom>
          <a:solidFill>
            <a:srgbClr val="FFFFFF"/>
          </a:solidFill>
          <a:ln w="6350">
            <a:solidFill>
              <a:srgbClr val="E2DED2"/>
            </a:solidFill>
            <a:prstDash val="solid"/>
          </a:ln>
        </p:spPr>
        <p:txBody>
          <a:bodyPr wrap="square" lIns="130467" tIns="105067" rIns="38646" bIns="79667" rtlCol="0" anchor="t">
            <a:normAutofit/>
          </a:bodyPr>
          <a:lstStyle/>
          <a:p>
            <a:pPr algn="l" indent="0" marL="0">
              <a:lnSpc>
                <a:spcPts val="1690"/>
              </a:lnSpc>
              <a:buNone/>
            </a:pPr>
            <a:r>
              <a:rPr lang="en-US" sz="1300" b="1" dirty="0">
                <a:solidFill>
                  <a:srgbClr val="14213D"/>
                </a:solidFill>
                <a:latin typeface="DM Sans" pitchFamily="34" charset="0"/>
                <a:ea typeface="DM Sans" pitchFamily="34" charset="-122"/>
                <a:cs typeface="DM Sans" pitchFamily="34" charset="-120"/>
              </a:rPr>
              <a:t>Slicers:</a:t>
            </a:r>
            <a:r>
              <a:rPr lang="en-US" sz="1300" dirty="0">
                <a:solidFill>
                  <a:srgbClr val="14213D"/>
                </a:solidFill>
                <a:latin typeface="DM Sans" pitchFamily="34" charset="0"/>
                <a:ea typeface="DM Sans" pitchFamily="34" charset="-122"/>
                <a:cs typeface="DM Sans" pitchFamily="34" charset="-120"/>
              </a:rPr>
              <a:t> Product Category and Year</a:t>
            </a:r>
            <a:endParaRPr lang="en-US" sz="1300" dirty="0"/>
          </a:p>
        </p:txBody>
      </p:sp>
      <p:sp>
        <p:nvSpPr>
          <p:cNvPr id="10" name="Text 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Built for overall stakeholders</a:t>
            </a:r>
            <a:endParaRPr lang="en-US" sz="1200" dirty="0"/>
          </a:p>
        </p:txBody>
      </p:sp>
      <p:sp>
        <p:nvSpPr>
          <p:cNvPr id="11" name="Text 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26467"/>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B45F00"/>
                </a:solidFill>
                <a:latin typeface="DM Sans" pitchFamily="34" charset="0"/>
                <a:ea typeface="DM Sans" pitchFamily="34" charset="-122"/>
                <a:cs typeface="DM Sans" pitchFamily="34" charset="-120"/>
              </a:rPr>
              <a:t>DASHBOARD TOUR · 2 OF 3</a:t>
            </a:r>
            <a:endParaRPr lang="en-US" sz="1159" dirty="0"/>
          </a:p>
        </p:txBody>
      </p:sp>
      <p:sp>
        <p:nvSpPr>
          <p:cNvPr id="3" name="Text 1"/>
          <p:cNvSpPr/>
          <p:nvPr>
            <p:ph type="title"/>
          </p:nvPr>
        </p:nvSpPr>
        <p:spPr>
          <a:xfrm>
            <a:off x="812800" y="1090067"/>
            <a:ext cx="9810750" cy="868114"/>
          </a:xfrm>
          <a:prstGeom prst="rect">
            <a:avLst/>
          </a:prstGeom>
          <a:noFill/>
          <a:ln/>
        </p:spPr>
        <p:txBody>
          <a:bodyPr wrap="square" lIns="0" tIns="0" rIns="0" bIns="0" rtlCol="0" anchor="t">
            <a:normAutofit/>
          </a:bodyPr>
          <a:lstStyle/>
          <a:p>
            <a:pPr algn="l" indent="0" marL="0">
              <a:lnSpc>
                <a:spcPts val="3333"/>
              </a:lnSpc>
              <a:buNone/>
            </a:pPr>
            <a:r>
              <a:rPr lang="en-US" sz="3030" b="1" i="0" dirty="0">
                <a:solidFill>
                  <a:srgbClr val="14213D"/>
                </a:solidFill>
                <a:latin typeface="DM Sans" pitchFamily="34" charset="0"/>
                <a:ea typeface="DM Sans" pitchFamily="34" charset="-122"/>
                <a:cs typeface="DM Sans" pitchFamily="34" charset="-120"/>
              </a:rPr>
              <a:t>Product tab: category performance and satisfaction</a:t>
            </a:r>
            <a:endParaRPr lang="en-US" sz="3030" dirty="0"/>
          </a:p>
        </p:txBody>
      </p:sp>
      <p:sp>
        <p:nvSpPr>
          <p:cNvPr id="4" name="Shape 2"/>
          <p:cNvSpPr/>
          <p:nvPr/>
        </p:nvSpPr>
        <p:spPr>
          <a:xfrm>
            <a:off x="812800" y="2110581"/>
            <a:ext cx="6985000" cy="3943350"/>
          </a:xfrm>
          <a:prstGeom prst="roundRect">
            <a:avLst>
              <a:gd name="adj" fmla="val 1932"/>
            </a:avLst>
          </a:prstGeom>
          <a:solidFill>
            <a:srgbClr val="FFFFFF"/>
          </a:solidFill>
          <a:ln/>
        </p:spPr>
      </p:sp>
      <p:pic>
        <p:nvPicPr>
          <p:cNvPr id="5" name="Image 0" descr="Product tab of the Power BI dashboard with four slicers, KPI cards, a category table, a revenue versus sales bar chart, category performance and customer satisfaction">    </p:cNvPr>
          <p:cNvPicPr>
            <a:picLocks noChangeAspect="1"/>
          </p:cNvPicPr>
          <p:nvPr/>
        </p:nvPicPr>
        <p:blipFill>
          <a:blip r:embed="rId1"/>
          <a:srcRect l="-102" r="-102" t="0" b="0"/>
          <a:stretch/>
        </p:blipFill>
        <p:spPr>
          <a:xfrm>
            <a:off x="819150" y="2116931"/>
            <a:ext cx="6972300" cy="3930650"/>
          </a:xfrm>
          <a:prstGeom prst="roundRect">
            <a:avLst>
              <a:gd name="adj" fmla="val 1777"/>
            </a:avLst>
          </a:prstGeom>
        </p:spPr>
      </p:pic>
      <p:sp>
        <p:nvSpPr>
          <p:cNvPr id="6" name="Shape 3"/>
          <p:cNvSpPr/>
          <p:nvPr/>
        </p:nvSpPr>
        <p:spPr>
          <a:xfrm>
            <a:off x="815975" y="2113756"/>
            <a:ext cx="6978650" cy="3937000"/>
          </a:xfrm>
          <a:prstGeom prst="roundRect">
            <a:avLst>
              <a:gd name="adj" fmla="val 1855"/>
            </a:avLst>
          </a:prstGeom>
          <a:noFill/>
          <a:ln w="6350">
            <a:solidFill>
              <a:srgbClr val="E2DED2"/>
            </a:solidFill>
            <a:prstDash val="solid"/>
          </a:ln>
        </p:spPr>
      </p:sp>
      <p:sp>
        <p:nvSpPr>
          <p:cNvPr id="7" name="Text 4"/>
          <p:cNvSpPr/>
          <p:nvPr/>
        </p:nvSpPr>
        <p:spPr>
          <a:xfrm>
            <a:off x="8004175" y="2113756"/>
            <a:ext cx="3371850" cy="689570"/>
          </a:xfrm>
          <a:prstGeom prst="roundRect">
            <a:avLst>
              <a:gd name="adj" fmla="val 12432"/>
            </a:avLst>
          </a:prstGeom>
          <a:solidFill>
            <a:srgbClr val="FFFFFF"/>
          </a:solidFill>
          <a:ln w="6350">
            <a:solidFill>
              <a:srgbClr val="E2DED2"/>
            </a:solidFill>
            <a:prstDash val="solid"/>
          </a:ln>
        </p:spPr>
        <p:txBody>
          <a:bodyPr wrap="square" lIns="130467" tIns="105067" rIns="38646" bIns="79667" rtlCol="0" anchor="t">
            <a:normAutofit/>
          </a:bodyPr>
          <a:lstStyle/>
          <a:p>
            <a:pPr algn="l" indent="0" marL="0">
              <a:lnSpc>
                <a:spcPts val="1690"/>
              </a:lnSpc>
              <a:buNone/>
            </a:pPr>
            <a:r>
              <a:rPr lang="en-US" sz="1300" b="1" dirty="0">
                <a:solidFill>
                  <a:srgbClr val="14213D"/>
                </a:solidFill>
                <a:latin typeface="DM Sans" pitchFamily="34" charset="0"/>
                <a:ea typeface="DM Sans" pitchFamily="34" charset="-122"/>
                <a:cs typeface="DM Sans" pitchFamily="34" charset="-120"/>
              </a:rPr>
              <a:t>Four slicers:</a:t>
            </a:r>
            <a:r>
              <a:rPr lang="en-US" sz="1300" dirty="0">
                <a:solidFill>
                  <a:srgbClr val="14213D"/>
                </a:solidFill>
                <a:latin typeface="DM Sans" pitchFamily="34" charset="0"/>
                <a:ea typeface="DM Sans" pitchFamily="34" charset="-122"/>
                <a:cs typeface="DM Sans" pitchFamily="34" charset="-120"/>
              </a:rPr>
              <a:t> category, delivery type, gender, age group</a:t>
            </a:r>
            <a:endParaRPr lang="en-US" sz="1300" dirty="0"/>
          </a:p>
        </p:txBody>
      </p:sp>
      <p:sp>
        <p:nvSpPr>
          <p:cNvPr id="8" name="Text 5"/>
          <p:cNvSpPr/>
          <p:nvPr/>
        </p:nvSpPr>
        <p:spPr>
          <a:xfrm>
            <a:off x="8004175" y="2911277"/>
            <a:ext cx="3371850" cy="689570"/>
          </a:xfrm>
          <a:prstGeom prst="roundRect">
            <a:avLst>
              <a:gd name="adj" fmla="val 12432"/>
            </a:avLst>
          </a:prstGeom>
          <a:solidFill>
            <a:srgbClr val="FFFFFF"/>
          </a:solidFill>
          <a:ln w="6350">
            <a:solidFill>
              <a:srgbClr val="E2DED2"/>
            </a:solidFill>
            <a:prstDash val="solid"/>
          </a:ln>
        </p:spPr>
        <p:txBody>
          <a:bodyPr wrap="square" lIns="130467" tIns="105067" rIns="38646" bIns="79667" rtlCol="0" anchor="t">
            <a:normAutofit/>
          </a:bodyPr>
          <a:lstStyle/>
          <a:p>
            <a:pPr algn="l" indent="0" marL="0">
              <a:lnSpc>
                <a:spcPts val="1690"/>
              </a:lnSpc>
              <a:buNone/>
            </a:pPr>
            <a:r>
              <a:rPr lang="en-US" sz="1300" b="1" dirty="0">
                <a:solidFill>
                  <a:srgbClr val="14213D"/>
                </a:solidFill>
                <a:latin typeface="DM Sans" pitchFamily="34" charset="0"/>
                <a:ea typeface="DM Sans" pitchFamily="34" charset="-122"/>
                <a:cs typeface="DM Sans" pitchFamily="34" charset="-120"/>
              </a:rPr>
              <a:t>Category table:</a:t>
            </a:r>
            <a:r>
              <a:rPr lang="en-US" sz="1300" dirty="0">
                <a:solidFill>
                  <a:srgbClr val="14213D"/>
                </a:solidFill>
                <a:latin typeface="DM Sans" pitchFamily="34" charset="0"/>
                <a:ea typeface="DM Sans" pitchFamily="34" charset="-122"/>
                <a:cs typeface="DM Sans" pitchFamily="34" charset="-120"/>
              </a:rPr>
              <a:t> revenue, customers, rating, returns</a:t>
            </a:r>
            <a:endParaRPr lang="en-US" sz="1300" dirty="0"/>
          </a:p>
        </p:txBody>
      </p:sp>
      <p:sp>
        <p:nvSpPr>
          <p:cNvPr id="9" name="Text 6"/>
          <p:cNvSpPr/>
          <p:nvPr/>
        </p:nvSpPr>
        <p:spPr>
          <a:xfrm>
            <a:off x="8004175" y="3708797"/>
            <a:ext cx="3371850" cy="689570"/>
          </a:xfrm>
          <a:prstGeom prst="roundRect">
            <a:avLst>
              <a:gd name="adj" fmla="val 12432"/>
            </a:avLst>
          </a:prstGeom>
          <a:solidFill>
            <a:srgbClr val="FFFFFF"/>
          </a:solidFill>
          <a:ln w="6350">
            <a:solidFill>
              <a:srgbClr val="E2DED2"/>
            </a:solidFill>
            <a:prstDash val="solid"/>
          </a:ln>
        </p:spPr>
        <p:txBody>
          <a:bodyPr wrap="square" lIns="130467" tIns="105067" rIns="38646" bIns="79667" rtlCol="0" anchor="t">
            <a:normAutofit/>
          </a:bodyPr>
          <a:lstStyle/>
          <a:p>
            <a:pPr algn="l" indent="0" marL="0">
              <a:lnSpc>
                <a:spcPts val="1690"/>
              </a:lnSpc>
              <a:buNone/>
            </a:pPr>
            <a:r>
              <a:rPr lang="en-US" sz="1300" b="1" dirty="0">
                <a:solidFill>
                  <a:srgbClr val="14213D"/>
                </a:solidFill>
                <a:latin typeface="DM Sans" pitchFamily="34" charset="0"/>
                <a:ea typeface="DM Sans" pitchFamily="34" charset="-122"/>
                <a:cs typeface="DM Sans" pitchFamily="34" charset="-120"/>
              </a:rPr>
              <a:t>Reconciles:</a:t>
            </a:r>
            <a:r>
              <a:rPr lang="en-US" sz="1300" dirty="0">
                <a:solidFill>
                  <a:srgbClr val="14213D"/>
                </a:solidFill>
                <a:latin typeface="DM Sans" pitchFamily="34" charset="0"/>
                <a:ea typeface="DM Sans" pitchFamily="34" charset="-122"/>
                <a:cs typeface="DM Sans" pitchFamily="34" charset="-120"/>
              </a:rPr>
              <a:t> the table total matches ₹107.24M</a:t>
            </a:r>
            <a:endParaRPr lang="en-US" sz="1300" dirty="0"/>
          </a:p>
        </p:txBody>
      </p:sp>
      <p:sp>
        <p:nvSpPr>
          <p:cNvPr id="10" name="Text 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Built for category managers</a:t>
            </a:r>
            <a:endParaRPr lang="en-US" sz="1200" dirty="0"/>
          </a:p>
        </p:txBody>
      </p:sp>
      <p:sp>
        <p:nvSpPr>
          <p:cNvPr id="11" name="Text 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DASHBOARD TOUR · 3 OF 3</a:t>
            </a:r>
            <a:endParaRPr lang="en-US" sz="1200" dirty="0"/>
          </a:p>
        </p:txBody>
      </p:sp>
      <p:sp>
        <p:nvSpPr>
          <p:cNvPr id="3" name="Text 1"/>
          <p:cNvSpPr/>
          <p:nvPr>
            <p:ph type="title"/>
          </p:nvPr>
        </p:nvSpPr>
        <p:spPr>
          <a:xfrm>
            <a:off x="812800" y="1102320"/>
            <a:ext cx="9810750"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Individual product tab: one product in detail</a:t>
            </a:r>
            <a:endParaRPr lang="en-US" sz="3200" dirty="0"/>
          </a:p>
        </p:txBody>
      </p:sp>
      <p:sp>
        <p:nvSpPr>
          <p:cNvPr id="4" name="Shape 2"/>
          <p:cNvSpPr/>
          <p:nvPr/>
        </p:nvSpPr>
        <p:spPr>
          <a:xfrm>
            <a:off x="812800" y="1727150"/>
            <a:ext cx="6985000" cy="3943350"/>
          </a:xfrm>
          <a:prstGeom prst="roundRect">
            <a:avLst>
              <a:gd name="adj" fmla="val 1932"/>
            </a:avLst>
          </a:prstGeom>
          <a:solidFill>
            <a:srgbClr val="FFFFFF"/>
          </a:solidFill>
          <a:ln/>
        </p:spPr>
      </p:sp>
      <p:pic>
        <p:nvPicPr>
          <p:cNvPr id="5" name="Image 0" descr="Individual product tab of the Power BI dashboard with product and product ID slicers, six cards, monthly revenue and rating by delivery type">    </p:cNvPr>
          <p:cNvPicPr>
            <a:picLocks noChangeAspect="1"/>
          </p:cNvPicPr>
          <p:nvPr/>
        </p:nvPicPr>
        <p:blipFill>
          <a:blip r:embed="rId1"/>
          <a:srcRect l="-102" r="-102" t="0" b="0"/>
          <a:stretch/>
        </p:blipFill>
        <p:spPr>
          <a:xfrm>
            <a:off x="819150" y="1733500"/>
            <a:ext cx="6972300" cy="3930650"/>
          </a:xfrm>
          <a:prstGeom prst="roundRect">
            <a:avLst>
              <a:gd name="adj" fmla="val 1777"/>
            </a:avLst>
          </a:prstGeom>
        </p:spPr>
      </p:pic>
      <p:sp>
        <p:nvSpPr>
          <p:cNvPr id="6" name="Shape 3"/>
          <p:cNvSpPr/>
          <p:nvPr/>
        </p:nvSpPr>
        <p:spPr>
          <a:xfrm>
            <a:off x="815975" y="1730325"/>
            <a:ext cx="6978650" cy="3937000"/>
          </a:xfrm>
          <a:prstGeom prst="roundRect">
            <a:avLst>
              <a:gd name="adj" fmla="val 1855"/>
            </a:avLst>
          </a:prstGeom>
          <a:noFill/>
          <a:ln w="6350">
            <a:solidFill>
              <a:srgbClr val="E2DED2"/>
            </a:solidFill>
            <a:prstDash val="solid"/>
          </a:ln>
        </p:spPr>
      </p:sp>
      <p:sp>
        <p:nvSpPr>
          <p:cNvPr id="7" name="Text 4"/>
          <p:cNvSpPr/>
          <p:nvPr/>
        </p:nvSpPr>
        <p:spPr>
          <a:xfrm>
            <a:off x="8004175" y="1730325"/>
            <a:ext cx="3371850" cy="689570"/>
          </a:xfrm>
          <a:prstGeom prst="roundRect">
            <a:avLst>
              <a:gd name="adj" fmla="val 12432"/>
            </a:avLst>
          </a:prstGeom>
          <a:solidFill>
            <a:srgbClr val="FFFFFF"/>
          </a:solidFill>
          <a:ln w="6350">
            <a:solidFill>
              <a:srgbClr val="E2DED2"/>
            </a:solidFill>
            <a:prstDash val="solid"/>
          </a:ln>
        </p:spPr>
        <p:txBody>
          <a:bodyPr wrap="square" lIns="130467" tIns="105067" rIns="38646" bIns="79667" rtlCol="0" anchor="t">
            <a:normAutofit/>
          </a:bodyPr>
          <a:lstStyle/>
          <a:p>
            <a:pPr algn="l" indent="0" marL="0">
              <a:lnSpc>
                <a:spcPts val="1690"/>
              </a:lnSpc>
              <a:buNone/>
            </a:pPr>
            <a:r>
              <a:rPr lang="en-US" sz="1300" b="1" dirty="0">
                <a:solidFill>
                  <a:srgbClr val="14213D"/>
                </a:solidFill>
                <a:latin typeface="DM Sans" pitchFamily="34" charset="0"/>
                <a:ea typeface="DM Sans" pitchFamily="34" charset="-122"/>
                <a:cs typeface="DM Sans" pitchFamily="34" charset="-120"/>
              </a:rPr>
              <a:t>Pick a product</a:t>
            </a:r>
            <a:r>
              <a:rPr lang="en-US" sz="1300" dirty="0">
                <a:solidFill>
                  <a:srgbClr val="14213D"/>
                </a:solidFill>
                <a:latin typeface="DM Sans" pitchFamily="34" charset="0"/>
                <a:ea typeface="DM Sans" pitchFamily="34" charset="-122"/>
                <a:cs typeface="DM Sans" pitchFamily="34" charset="-120"/>
              </a:rPr>
              <a:t> by name or by product ID</a:t>
            </a:r>
            <a:endParaRPr lang="en-US" sz="1300" dirty="0"/>
          </a:p>
        </p:txBody>
      </p:sp>
      <p:sp>
        <p:nvSpPr>
          <p:cNvPr id="8" name="Text 5"/>
          <p:cNvSpPr/>
          <p:nvPr/>
        </p:nvSpPr>
        <p:spPr>
          <a:xfrm>
            <a:off x="8004175" y="2527846"/>
            <a:ext cx="3371850" cy="689570"/>
          </a:xfrm>
          <a:prstGeom prst="roundRect">
            <a:avLst>
              <a:gd name="adj" fmla="val 12432"/>
            </a:avLst>
          </a:prstGeom>
          <a:solidFill>
            <a:srgbClr val="FFFFFF"/>
          </a:solidFill>
          <a:ln w="6350">
            <a:solidFill>
              <a:srgbClr val="E2DED2"/>
            </a:solidFill>
            <a:prstDash val="solid"/>
          </a:ln>
        </p:spPr>
        <p:txBody>
          <a:bodyPr wrap="square" lIns="130467" tIns="105067" rIns="38646" bIns="79667" rtlCol="0" anchor="t">
            <a:normAutofit/>
          </a:bodyPr>
          <a:lstStyle/>
          <a:p>
            <a:pPr algn="l" indent="0" marL="0">
              <a:lnSpc>
                <a:spcPts val="1690"/>
              </a:lnSpc>
              <a:buNone/>
            </a:pPr>
            <a:r>
              <a:rPr lang="en-US" sz="1300" b="1" dirty="0">
                <a:solidFill>
                  <a:srgbClr val="14213D"/>
                </a:solidFill>
                <a:latin typeface="DM Sans" pitchFamily="34" charset="0"/>
                <a:ea typeface="DM Sans" pitchFamily="34" charset="-122"/>
                <a:cs typeface="DM Sans" pitchFamily="34" charset="-120"/>
              </a:rPr>
              <a:t>Six cards:</a:t>
            </a:r>
            <a:r>
              <a:rPr lang="en-US" sz="1300" dirty="0">
                <a:solidFill>
                  <a:srgbClr val="14213D"/>
                </a:solidFill>
                <a:latin typeface="DM Sans" pitchFamily="34" charset="0"/>
                <a:ea typeface="DM Sans" pitchFamily="34" charset="-122"/>
                <a:cs typeface="DM Sans" pitchFamily="34" charset="-120"/>
              </a:rPr>
              <a:t> ID, category, sub-category, units, revenue, rating</a:t>
            </a:r>
            <a:endParaRPr lang="en-US" sz="1300" dirty="0"/>
          </a:p>
        </p:txBody>
      </p:sp>
      <p:sp>
        <p:nvSpPr>
          <p:cNvPr id="9" name="Text 6"/>
          <p:cNvSpPr/>
          <p:nvPr/>
        </p:nvSpPr>
        <p:spPr>
          <a:xfrm>
            <a:off x="8004175" y="3325366"/>
            <a:ext cx="3371850" cy="689570"/>
          </a:xfrm>
          <a:prstGeom prst="roundRect">
            <a:avLst>
              <a:gd name="adj" fmla="val 12432"/>
            </a:avLst>
          </a:prstGeom>
          <a:solidFill>
            <a:srgbClr val="FFFFFF"/>
          </a:solidFill>
          <a:ln w="6350">
            <a:solidFill>
              <a:srgbClr val="E2DED2"/>
            </a:solidFill>
            <a:prstDash val="solid"/>
          </a:ln>
        </p:spPr>
        <p:txBody>
          <a:bodyPr wrap="square" lIns="130467" tIns="105067" rIns="38646" bIns="79667" rtlCol="0" anchor="t">
            <a:normAutofit/>
          </a:bodyPr>
          <a:lstStyle/>
          <a:p>
            <a:pPr algn="l" indent="0" marL="0">
              <a:lnSpc>
                <a:spcPts val="1690"/>
              </a:lnSpc>
              <a:buNone/>
            </a:pPr>
            <a:r>
              <a:rPr lang="en-US" sz="1300" b="1" dirty="0">
                <a:solidFill>
                  <a:srgbClr val="14213D"/>
                </a:solidFill>
                <a:latin typeface="DM Sans" pitchFamily="34" charset="0"/>
                <a:ea typeface="DM Sans" pitchFamily="34" charset="-122"/>
                <a:cs typeface="DM Sans" pitchFamily="34" charset="-120"/>
              </a:rPr>
              <a:t>Field parameter:</a:t>
            </a:r>
            <a:r>
              <a:rPr lang="en-US" sz="1300" dirty="0">
                <a:solidFill>
                  <a:srgbClr val="14213D"/>
                </a:solidFill>
                <a:latin typeface="DM Sans" pitchFamily="34" charset="0"/>
                <a:ea typeface="DM Sans" pitchFamily="34" charset="-122"/>
                <a:cs typeface="DM Sans" pitchFamily="34" charset="-120"/>
              </a:rPr>
              <a:t> switch the monthly chart between revenue, units and rating</a:t>
            </a:r>
            <a:endParaRPr lang="en-US" sz="1300" dirty="0"/>
          </a:p>
        </p:txBody>
      </p:sp>
      <p:sp>
        <p:nvSpPr>
          <p:cNvPr id="10" name="Text 7"/>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Built for product-level decisions</a:t>
            </a:r>
            <a:endParaRPr lang="en-US" sz="1200" dirty="0"/>
          </a:p>
        </p:txBody>
      </p:sp>
      <p:sp>
        <p:nvSpPr>
          <p:cNvPr id="11" name="Text 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5F00"/>
                </a:solidFill>
                <a:latin typeface="DM Sans" pitchFamily="34" charset="0"/>
                <a:ea typeface="DM Sans" pitchFamily="34" charset="-122"/>
                <a:cs typeface="DM Sans" pitchFamily="34" charset="-120"/>
              </a:rPr>
              <a:t>WHAT TO DO NEXT</a:t>
            </a:r>
            <a:endParaRPr lang="en-US" sz="1200" dirty="0"/>
          </a:p>
        </p:txBody>
      </p:sp>
      <p:sp>
        <p:nvSpPr>
          <p:cNvPr id="3" name="Text 1"/>
          <p:cNvSpPr/>
          <p:nvPr>
            <p:ph type="title"/>
          </p:nvPr>
        </p:nvSpPr>
        <p:spPr>
          <a:xfrm>
            <a:off x="812800" y="1127720"/>
            <a:ext cx="9810750"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Six recommendations</a:t>
            </a:r>
            <a:endParaRPr lang="en-US" sz="3200" dirty="0"/>
          </a:p>
        </p:txBody>
      </p:sp>
      <p:sp>
        <p:nvSpPr>
          <p:cNvPr id="4" name="Shape 2"/>
          <p:cNvSpPr/>
          <p:nvPr/>
        </p:nvSpPr>
        <p:spPr>
          <a:xfrm>
            <a:off x="815975" y="1882725"/>
            <a:ext cx="3397250" cy="1449040"/>
          </a:xfrm>
          <a:prstGeom prst="roundRect">
            <a:avLst>
              <a:gd name="adj" fmla="val 6792"/>
            </a:avLst>
          </a:prstGeom>
          <a:solidFill>
            <a:srgbClr val="FFFFFF"/>
          </a:solidFill>
          <a:ln w="6350">
            <a:solidFill>
              <a:srgbClr val="E2DED2"/>
            </a:solidFill>
            <a:prstDash val="solid"/>
          </a:ln>
        </p:spPr>
      </p:sp>
      <p:sp>
        <p:nvSpPr>
          <p:cNvPr id="5" name="Text 3"/>
          <p:cNvSpPr/>
          <p:nvPr/>
        </p:nvSpPr>
        <p:spPr>
          <a:xfrm>
            <a:off x="1022350" y="2076400"/>
            <a:ext cx="3074035"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E07A00"/>
                </a:solidFill>
                <a:latin typeface="DM Sans" pitchFamily="34" charset="0"/>
                <a:ea typeface="DM Sans" pitchFamily="34" charset="-122"/>
                <a:cs typeface="DM Sans" pitchFamily="34" charset="-120"/>
              </a:rPr>
              <a:t>1</a:t>
            </a:r>
            <a:endParaRPr lang="en-US" sz="2400" dirty="0"/>
          </a:p>
        </p:txBody>
      </p:sp>
      <p:sp>
        <p:nvSpPr>
          <p:cNvPr id="6" name="Text 4"/>
          <p:cNvSpPr/>
          <p:nvPr/>
        </p:nvSpPr>
        <p:spPr>
          <a:xfrm>
            <a:off x="1022350" y="2444700"/>
            <a:ext cx="3074035"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DM Sans" pitchFamily="34" charset="0"/>
                <a:ea typeface="DM Sans" pitchFamily="34" charset="-122"/>
                <a:cs typeface="DM Sans" pitchFamily="34" charset="-120"/>
              </a:rPr>
              <a:t>Protect stock of Phones and Tablet and Electronics. Offer 5 to 10% off premium Canon cameras.</a:t>
            </a:r>
            <a:endParaRPr lang="en-US" sz="1400" dirty="0"/>
          </a:p>
        </p:txBody>
      </p:sp>
      <p:sp>
        <p:nvSpPr>
          <p:cNvPr id="7" name="Shape 5"/>
          <p:cNvSpPr/>
          <p:nvPr/>
        </p:nvSpPr>
        <p:spPr>
          <a:xfrm>
            <a:off x="4397375" y="1882725"/>
            <a:ext cx="3397250" cy="1449040"/>
          </a:xfrm>
          <a:prstGeom prst="roundRect">
            <a:avLst>
              <a:gd name="adj" fmla="val 6792"/>
            </a:avLst>
          </a:prstGeom>
          <a:solidFill>
            <a:srgbClr val="FFFFFF"/>
          </a:solidFill>
          <a:ln w="6350">
            <a:solidFill>
              <a:srgbClr val="E2DED2"/>
            </a:solidFill>
            <a:prstDash val="solid"/>
          </a:ln>
        </p:spPr>
      </p:sp>
      <p:sp>
        <p:nvSpPr>
          <p:cNvPr id="8" name="Text 6"/>
          <p:cNvSpPr/>
          <p:nvPr/>
        </p:nvSpPr>
        <p:spPr>
          <a:xfrm>
            <a:off x="4603750" y="2076400"/>
            <a:ext cx="3074035"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E07A00"/>
                </a:solidFill>
                <a:latin typeface="DM Sans" pitchFamily="34" charset="0"/>
                <a:ea typeface="DM Sans" pitchFamily="34" charset="-122"/>
                <a:cs typeface="DM Sans" pitchFamily="34" charset="-120"/>
              </a:rPr>
              <a:t>2</a:t>
            </a:r>
            <a:endParaRPr lang="en-US" sz="2400" dirty="0"/>
          </a:p>
        </p:txBody>
      </p:sp>
      <p:sp>
        <p:nvSpPr>
          <p:cNvPr id="9" name="Text 7"/>
          <p:cNvSpPr/>
          <p:nvPr/>
        </p:nvSpPr>
        <p:spPr>
          <a:xfrm>
            <a:off x="4603750" y="2444700"/>
            <a:ext cx="3074035"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DM Sans" pitchFamily="34" charset="0"/>
                <a:ea typeface="DM Sans" pitchFamily="34" charset="-122"/>
                <a:cs typeface="DM Sans" pitchFamily="34" charset="-120"/>
              </a:rPr>
              <a:t>Bundle high-volume Health and Beauty and Fashion items.</a:t>
            </a:r>
            <a:endParaRPr lang="en-US" sz="1400" dirty="0"/>
          </a:p>
        </p:txBody>
      </p:sp>
      <p:sp>
        <p:nvSpPr>
          <p:cNvPr id="10" name="Shape 8"/>
          <p:cNvSpPr/>
          <p:nvPr/>
        </p:nvSpPr>
        <p:spPr>
          <a:xfrm>
            <a:off x="7978775" y="1882725"/>
            <a:ext cx="3397250" cy="1449040"/>
          </a:xfrm>
          <a:prstGeom prst="roundRect">
            <a:avLst>
              <a:gd name="adj" fmla="val 6792"/>
            </a:avLst>
          </a:prstGeom>
          <a:solidFill>
            <a:srgbClr val="FFFFFF"/>
          </a:solidFill>
          <a:ln w="6350">
            <a:solidFill>
              <a:srgbClr val="E2DED2"/>
            </a:solidFill>
            <a:prstDash val="solid"/>
          </a:ln>
        </p:spPr>
      </p:sp>
      <p:sp>
        <p:nvSpPr>
          <p:cNvPr id="11" name="Text 9"/>
          <p:cNvSpPr/>
          <p:nvPr/>
        </p:nvSpPr>
        <p:spPr>
          <a:xfrm>
            <a:off x="8185150" y="2076400"/>
            <a:ext cx="3074035"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E07A00"/>
                </a:solidFill>
                <a:latin typeface="DM Sans" pitchFamily="34" charset="0"/>
                <a:ea typeface="DM Sans" pitchFamily="34" charset="-122"/>
                <a:cs typeface="DM Sans" pitchFamily="34" charset="-120"/>
              </a:rPr>
              <a:t>3</a:t>
            </a:r>
            <a:endParaRPr lang="en-US" sz="2400" dirty="0"/>
          </a:p>
        </p:txBody>
      </p:sp>
      <p:sp>
        <p:nvSpPr>
          <p:cNvPr id="12" name="Text 10"/>
          <p:cNvSpPr/>
          <p:nvPr/>
        </p:nvSpPr>
        <p:spPr>
          <a:xfrm>
            <a:off x="8185150" y="2444700"/>
            <a:ext cx="3074035"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DM Sans" pitchFamily="34" charset="0"/>
                <a:ea typeface="DM Sans" pitchFamily="34" charset="-122"/>
                <a:cs typeface="DM Sans" pitchFamily="34" charset="-120"/>
              </a:rPr>
              <a:t>Run promotions in June and September, the weakest months.</a:t>
            </a:r>
            <a:endParaRPr lang="en-US" sz="1400" dirty="0"/>
          </a:p>
        </p:txBody>
      </p:sp>
      <p:sp>
        <p:nvSpPr>
          <p:cNvPr id="13" name="Shape 11"/>
          <p:cNvSpPr/>
          <p:nvPr/>
        </p:nvSpPr>
        <p:spPr>
          <a:xfrm>
            <a:off x="815975" y="3515916"/>
            <a:ext cx="3397250" cy="1449040"/>
          </a:xfrm>
          <a:prstGeom prst="roundRect">
            <a:avLst>
              <a:gd name="adj" fmla="val 6792"/>
            </a:avLst>
          </a:prstGeom>
          <a:solidFill>
            <a:srgbClr val="FFFFFF"/>
          </a:solidFill>
          <a:ln w="6350">
            <a:solidFill>
              <a:srgbClr val="E2DED2"/>
            </a:solidFill>
            <a:prstDash val="solid"/>
          </a:ln>
        </p:spPr>
      </p:sp>
      <p:sp>
        <p:nvSpPr>
          <p:cNvPr id="14" name="Text 12"/>
          <p:cNvSpPr/>
          <p:nvPr/>
        </p:nvSpPr>
        <p:spPr>
          <a:xfrm>
            <a:off x="1022350" y="3709591"/>
            <a:ext cx="3074035"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E07A00"/>
                </a:solidFill>
                <a:latin typeface="DM Sans" pitchFamily="34" charset="0"/>
                <a:ea typeface="DM Sans" pitchFamily="34" charset="-122"/>
                <a:cs typeface="DM Sans" pitchFamily="34" charset="-120"/>
              </a:rPr>
              <a:t>4</a:t>
            </a:r>
            <a:endParaRPr lang="en-US" sz="2400" dirty="0"/>
          </a:p>
        </p:txBody>
      </p:sp>
      <p:sp>
        <p:nvSpPr>
          <p:cNvPr id="15" name="Text 13"/>
          <p:cNvSpPr/>
          <p:nvPr/>
        </p:nvSpPr>
        <p:spPr>
          <a:xfrm>
            <a:off x="1022350" y="4077891"/>
            <a:ext cx="3074035"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DM Sans" pitchFamily="34" charset="0"/>
                <a:ea typeface="DM Sans" pitchFamily="34" charset="-122"/>
                <a:cs typeface="DM Sans" pitchFamily="34" charset="-120"/>
              </a:rPr>
              <a:t>Show honest delivery windows and reduce reliance on shipping from abroad.</a:t>
            </a:r>
            <a:endParaRPr lang="en-US" sz="1400" dirty="0"/>
          </a:p>
        </p:txBody>
      </p:sp>
      <p:sp>
        <p:nvSpPr>
          <p:cNvPr id="16" name="Shape 14"/>
          <p:cNvSpPr/>
          <p:nvPr/>
        </p:nvSpPr>
        <p:spPr>
          <a:xfrm>
            <a:off x="4397375" y="3515916"/>
            <a:ext cx="3397250" cy="1449040"/>
          </a:xfrm>
          <a:prstGeom prst="roundRect">
            <a:avLst>
              <a:gd name="adj" fmla="val 6792"/>
            </a:avLst>
          </a:prstGeom>
          <a:solidFill>
            <a:srgbClr val="FFFFFF"/>
          </a:solidFill>
          <a:ln w="6350">
            <a:solidFill>
              <a:srgbClr val="E2DED2"/>
            </a:solidFill>
            <a:prstDash val="solid"/>
          </a:ln>
        </p:spPr>
      </p:sp>
      <p:sp>
        <p:nvSpPr>
          <p:cNvPr id="17" name="Text 15"/>
          <p:cNvSpPr/>
          <p:nvPr/>
        </p:nvSpPr>
        <p:spPr>
          <a:xfrm>
            <a:off x="4603750" y="3709591"/>
            <a:ext cx="3074035"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E07A00"/>
                </a:solidFill>
                <a:latin typeface="DM Sans" pitchFamily="34" charset="0"/>
                <a:ea typeface="DM Sans" pitchFamily="34" charset="-122"/>
                <a:cs typeface="DM Sans" pitchFamily="34" charset="-120"/>
              </a:rPr>
              <a:t>5</a:t>
            </a:r>
            <a:endParaRPr lang="en-US" sz="2400" dirty="0"/>
          </a:p>
        </p:txBody>
      </p:sp>
      <p:sp>
        <p:nvSpPr>
          <p:cNvPr id="18" name="Text 16"/>
          <p:cNvSpPr/>
          <p:nvPr/>
        </p:nvSpPr>
        <p:spPr>
          <a:xfrm>
            <a:off x="4603750" y="4077891"/>
            <a:ext cx="3074035"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4213D"/>
                </a:solidFill>
                <a:latin typeface="DM Sans" pitchFamily="34" charset="0"/>
                <a:ea typeface="DM Sans" pitchFamily="34" charset="-122"/>
                <a:cs typeface="DM Sans" pitchFamily="34" charset="-120"/>
              </a:rPr>
              <a:t>Improve descriptions, sizing guides and images to cut returns.</a:t>
            </a:r>
            <a:endParaRPr lang="en-US" sz="1400" dirty="0"/>
          </a:p>
        </p:txBody>
      </p:sp>
      <p:sp>
        <p:nvSpPr>
          <p:cNvPr id="19" name="Shape 17"/>
          <p:cNvSpPr/>
          <p:nvPr/>
        </p:nvSpPr>
        <p:spPr>
          <a:xfrm>
            <a:off x="7975600" y="3512741"/>
            <a:ext cx="3403600" cy="1455390"/>
          </a:xfrm>
          <a:prstGeom prst="roundRect">
            <a:avLst>
              <a:gd name="adj" fmla="val 6981"/>
            </a:avLst>
          </a:prstGeom>
          <a:solidFill>
            <a:srgbClr val="14213D"/>
          </a:solidFill>
          <a:ln/>
        </p:spPr>
      </p:sp>
      <p:sp>
        <p:nvSpPr>
          <p:cNvPr id="20" name="Text 18"/>
          <p:cNvSpPr/>
          <p:nvPr/>
        </p:nvSpPr>
        <p:spPr>
          <a:xfrm>
            <a:off x="8178800" y="3703241"/>
            <a:ext cx="3087116"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5A623"/>
                </a:solidFill>
                <a:latin typeface="DM Sans" pitchFamily="34" charset="0"/>
                <a:ea typeface="DM Sans" pitchFamily="34" charset="-122"/>
                <a:cs typeface="DM Sans" pitchFamily="34" charset="-120"/>
              </a:rPr>
              <a:t>6</a:t>
            </a:r>
            <a:endParaRPr lang="en-US" sz="2400" dirty="0"/>
          </a:p>
        </p:txBody>
      </p:sp>
      <p:sp>
        <p:nvSpPr>
          <p:cNvPr id="21" name="Text 19"/>
          <p:cNvSpPr/>
          <p:nvPr/>
        </p:nvSpPr>
        <p:spPr>
          <a:xfrm>
            <a:off x="8178800" y="4071541"/>
            <a:ext cx="3087116"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6F4EE"/>
                </a:solidFill>
                <a:latin typeface="DM Sans" pitchFamily="34" charset="0"/>
                <a:ea typeface="DM Sans" pitchFamily="34" charset="-122"/>
                <a:cs typeface="DM Sans" pitchFamily="34" charset="-120"/>
              </a:rPr>
              <a:t>Launch the spend-based loyalty program, then measure second orders.</a:t>
            </a:r>
            <a:endParaRPr lang="en-US" sz="1400" dirty="0"/>
          </a:p>
        </p:txBody>
      </p:sp>
      <p:sp>
        <p:nvSpPr>
          <p:cNvPr id="22" name="Text 2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5"/>
                </a:solidFill>
                <a:latin typeface="DM Sans" pitchFamily="34" charset="0"/>
                <a:ea typeface="DM Sans" pitchFamily="34" charset="-122"/>
                <a:cs typeface="DM Sans" pitchFamily="34" charset="-120"/>
              </a:rPr>
              <a:t>Amazon E-Commerce · Power BI capstone</a:t>
            </a:r>
            <a:endParaRPr lang="en-US" sz="1200" dirty="0"/>
          </a:p>
        </p:txBody>
      </p:sp>
      <p:sp>
        <p:nvSpPr>
          <p:cNvPr id="23" name="Text 2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5"/>
                </a:solidFill>
                <a:latin typeface="DM Sans" pitchFamily="34" charset="0"/>
                <a:ea typeface="DM Sans" pitchFamily="34" charset="-122"/>
                <a:cs typeface="DM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7848600"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5A623"/>
                </a:solidFill>
                <a:latin typeface="DM Sans" pitchFamily="34" charset="0"/>
                <a:ea typeface="DM Sans" pitchFamily="34" charset="-122"/>
                <a:cs typeface="DM Sans" pitchFamily="34" charset="-120"/>
              </a:rPr>
              <a:t>AMAZON E-COMMERCE · POWER BI CAPSTONE</a:t>
            </a:r>
            <a:endParaRPr lang="en-US" sz="1400" dirty="0"/>
          </a:p>
        </p:txBody>
      </p:sp>
      <p:sp>
        <p:nvSpPr>
          <p:cNvPr id="3" name="Text 1"/>
          <p:cNvSpPr/>
          <p:nvPr>
            <p:ph type="title"/>
          </p:nvPr>
        </p:nvSpPr>
        <p:spPr>
          <a:xfrm>
            <a:off x="812800" y="2579390"/>
            <a:ext cx="915670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4EE"/>
                </a:solidFill>
                <a:latin typeface="DM Sans" pitchFamily="34" charset="0"/>
                <a:ea typeface="DM Sans" pitchFamily="34" charset="-122"/>
                <a:cs typeface="DM Sans" pitchFamily="34" charset="-120"/>
              </a:rPr>
              <a:t>Thank you</a:t>
            </a:r>
            <a:endParaRPr lang="en-US" sz="6000" dirty="0"/>
          </a:p>
        </p:txBody>
      </p:sp>
      <p:pic>
        <p:nvPicPr>
          <p:cNvPr id="4" name="Image 0" descr="line">    </p:cNvPr>
          <p:cNvPicPr>
            <a:picLocks noChangeAspect="1"/>
          </p:cNvPicPr>
          <p:nvPr/>
        </p:nvPicPr>
        <p:blipFill>
          <a:blip r:embed="rId1"/>
          <a:srcRect l="0" r="0" t="0" b="0"/>
          <a:stretch/>
        </p:blipFill>
        <p:spPr>
          <a:xfrm>
            <a:off x="812800" y="3608090"/>
            <a:ext cx="1016000" cy="50800"/>
          </a:xfrm>
          <a:prstGeom prst="rect">
            <a:avLst/>
          </a:prstGeom>
        </p:spPr>
      </p:pic>
      <p:sp>
        <p:nvSpPr>
          <p:cNvPr id="5" name="Text 2"/>
          <p:cNvSpPr/>
          <p:nvPr/>
        </p:nvSpPr>
        <p:spPr>
          <a:xfrm>
            <a:off x="812800" y="3887490"/>
            <a:ext cx="850265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D1E3"/>
                </a:solidFill>
                <a:latin typeface="DM Sans" pitchFamily="34" charset="0"/>
                <a:ea typeface="DM Sans" pitchFamily="34" charset="-122"/>
                <a:cs typeface="DM Sans" pitchFamily="34" charset="-120"/>
              </a:rPr>
              <a:t>Questions and discussion</a:t>
            </a:r>
            <a:endParaRPr lang="en-US" sz="2000" dirty="0"/>
          </a:p>
        </p:txBody>
      </p:sp>
      <p:sp>
        <p:nvSpPr>
          <p:cNvPr id="6" name="Text 3"/>
          <p:cNvSpPr/>
          <p:nvPr/>
        </p:nvSpPr>
        <p:spPr>
          <a:xfrm>
            <a:off x="812800" y="5760740"/>
            <a:ext cx="78486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DM Sans" pitchFamily="34" charset="0"/>
                <a:ea typeface="DM Sans" pitchFamily="34" charset="-122"/>
                <a:cs typeface="DM Sans" pitchFamily="34" charset="-120"/>
              </a:rPr>
              <a:t>Tushar Naha · tusharnaha9@gmail.com</a:t>
            </a:r>
            <a:endParaRPr lang="en-US" sz="1600" dirty="0"/>
          </a:p>
        </p:txBody>
      </p:sp>
    </p:spTree>
  </p:cSld>
  <p:clrMapOvr>
    <a:masterClrMapping/>
  </p:clrMapOvr>
</p:sld>
</file>

<file path=ppt/theme/theme1.xml><?xml version="1.0" encoding="utf-8"?>
<a:theme xmlns:a="http://schemas.openxmlformats.org/drawingml/2006/main" name="Amazon E-Commerce Power BI Project">
  <a:themeElements>
    <a:clrScheme name="Amazon E-Commerce Power BI Project">
      <a:dk1>
        <a:srgbClr val="14213D"/>
      </a:dk1>
      <a:lt1>
        <a:srgbClr val="F6F4EE"/>
      </a:lt1>
      <a:dk2>
        <a:srgbClr val="4D5669"/>
      </a:dk2>
      <a:lt2>
        <a:srgbClr val="DFDFDC"/>
      </a:lt2>
      <a:accent1>
        <a:srgbClr val="E07A00"/>
      </a:accent1>
      <a:accent2>
        <a:srgbClr val="B45F00"/>
      </a:accent2>
      <a:accent3>
        <a:srgbClr val="F5A623"/>
      </a:accent3>
      <a:accent4>
        <a:srgbClr val="1F6F78"/>
      </a:accent4>
      <a:accent5>
        <a:srgbClr val="5B6475"/>
      </a:accent5>
      <a:accent6>
        <a:srgbClr val="C9D1E3"/>
      </a:accent6>
      <a:hlink>
        <a:srgbClr val="0563C1"/>
      </a:hlink>
      <a:folHlink>
        <a:srgbClr val="954F72"/>
      </a:folHlink>
    </a:clrScheme>
    <a:fontScheme name="Amazon E-Commerce Power BI Project">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E-Commerce Power BI Project</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2026-10-24T17:19:17Z</dcterms:created>
  <dcterms:modified xsi:type="dcterms:W3CDTF">2026-10-24T17:19:17Z</dcterms:modified>
</cp:coreProperties>
</file>